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8" r:id="rId1"/>
  </p:sldMasterIdLst>
  <p:sldIdLst>
    <p:sldId id="256" r:id="rId2"/>
    <p:sldId id="257" r:id="rId3"/>
    <p:sldId id="258" r:id="rId4"/>
    <p:sldId id="259" r:id="rId5"/>
    <p:sldId id="260" r:id="rId6"/>
    <p:sldId id="261" r:id="rId7"/>
    <p:sldId id="263" r:id="rId8"/>
    <p:sldId id="264" r:id="rId9"/>
    <p:sldId id="265" r:id="rId10"/>
    <p:sldId id="262"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4" autoAdjust="0"/>
    <p:restoredTop sz="94660"/>
  </p:normalViewPr>
  <p:slideViewPr>
    <p:cSldViewPr snapToGrid="0">
      <p:cViewPr>
        <p:scale>
          <a:sx n="75" d="100"/>
          <a:sy n="75" d="100"/>
        </p:scale>
        <p:origin x="45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927CA0-FEE3-4C5A-B22A-DB866EE6502D}"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2502164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27927CA0-FEE3-4C5A-B22A-DB866EE6502D}"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2521571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927CA0-FEE3-4C5A-B22A-DB866EE6502D}"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497855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927CA0-FEE3-4C5A-B22A-DB866EE6502D}"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2799498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927CA0-FEE3-4C5A-B22A-DB866EE6502D}" type="datetimeFigureOut">
              <a:rPr lang="en-US" smtClean="0"/>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484888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7927CA0-FEE3-4C5A-B22A-DB866EE6502D}" type="datetimeFigureOut">
              <a:rPr lang="en-US" smtClean="0"/>
              <a:t>5/12/2026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3261772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7927CA0-FEE3-4C5A-B22A-DB866EE6502D}" type="datetimeFigureOut">
              <a:rPr lang="en-US" smtClean="0"/>
              <a:t>5/12/2026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3575824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27927CA0-FEE3-4C5A-B22A-DB866EE6502D}" type="datetimeFigureOut">
              <a:rPr lang="en-US" smtClean="0"/>
              <a:t>5/12/2026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125149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927CA0-FEE3-4C5A-B22A-DB866EE6502D}"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3085147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927CA0-FEE3-4C5A-B22A-DB866EE6502D}"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2415221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7927CA0-FEE3-4C5A-B22A-DB866EE6502D}"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26116669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7927CA0-FEE3-4C5A-B22A-DB866EE6502D}"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F2BBE7-D6D9-4592-BBD5-B73679F5287B}"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72996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927CA0-FEE3-4C5A-B22A-DB866EE6502D}"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38617149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7927CA0-FEE3-4C5A-B22A-DB866EE6502D}" type="datetimeFigureOut">
              <a:rPr lang="en-US" smtClean="0"/>
              <a:t>5/12/2026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39035844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7927CA0-FEE3-4C5A-B22A-DB866EE6502D}" type="datetimeFigureOut">
              <a:rPr lang="en-US" smtClean="0"/>
              <a:t>5/12/2026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32715534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927CA0-FEE3-4C5A-B22A-DB866EE6502D}"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247687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927CA0-FEE3-4C5A-B22A-DB866EE6502D}"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F2BBE7-D6D9-4592-BBD5-B73679F5287B}" type="slidenum">
              <a:rPr lang="en-US" smtClean="0"/>
              <a:t>‹#›</a:t>
            </a:fld>
            <a:endParaRPr lang="en-US"/>
          </a:p>
        </p:txBody>
      </p:sp>
    </p:spTree>
    <p:extLst>
      <p:ext uri="{BB962C8B-B14F-4D97-AF65-F5344CB8AC3E}">
        <p14:creationId xmlns:p14="http://schemas.microsoft.com/office/powerpoint/2010/main" val="2216400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7927CA0-FEE3-4C5A-B22A-DB866EE6502D}" type="datetimeFigureOut">
              <a:rPr lang="en-US" smtClean="0"/>
              <a:t>5/12/2026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6F2BBE7-D6D9-4592-BBD5-B73679F5287B}" type="slidenum">
              <a:rPr lang="en-US" smtClean="0"/>
              <a:t>‹#›</a:t>
            </a:fld>
            <a:endParaRPr lang="en-US"/>
          </a:p>
        </p:txBody>
      </p:sp>
    </p:spTree>
    <p:extLst>
      <p:ext uri="{BB962C8B-B14F-4D97-AF65-F5344CB8AC3E}">
        <p14:creationId xmlns:p14="http://schemas.microsoft.com/office/powerpoint/2010/main" val="1199710311"/>
      </p:ext>
    </p:extLst>
  </p:cSld>
  <p:clrMap bg1="dk1" tx1="lt1" bg2="dk2" tx2="lt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 id="214748381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690FD-8BD6-4870-9C28-430692AD75F9}"/>
              </a:ext>
            </a:extLst>
          </p:cNvPr>
          <p:cNvSpPr>
            <a:spLocks noGrp="1"/>
          </p:cNvSpPr>
          <p:nvPr>
            <p:ph type="ctrTitle"/>
          </p:nvPr>
        </p:nvSpPr>
        <p:spPr>
          <a:xfrm>
            <a:off x="2675965" y="2702859"/>
            <a:ext cx="8484160" cy="1682871"/>
          </a:xfrm>
        </p:spPr>
        <p:txBody>
          <a:bodyPr>
            <a:normAutofit fontScale="90000"/>
          </a:bodyPr>
          <a:lstStyle/>
          <a:p>
            <a:pPr algn="ctr"/>
            <a:r>
              <a:rPr lang="en-US" sz="8000" b="1" dirty="0">
                <a:latin typeface="Algerian" panose="04020705040A02060702" pitchFamily="82" charset="0"/>
              </a:rPr>
              <a:t>Algorithm &amp; Data Structure</a:t>
            </a:r>
          </a:p>
        </p:txBody>
      </p:sp>
    </p:spTree>
    <p:extLst>
      <p:ext uri="{BB962C8B-B14F-4D97-AF65-F5344CB8AC3E}">
        <p14:creationId xmlns:p14="http://schemas.microsoft.com/office/powerpoint/2010/main" val="4059352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3E7F0-A7FF-4716-9FF2-495D4E6991A1}"/>
              </a:ext>
            </a:extLst>
          </p:cNvPr>
          <p:cNvSpPr>
            <a:spLocks noGrp="1"/>
          </p:cNvSpPr>
          <p:nvPr>
            <p:ph type="title"/>
          </p:nvPr>
        </p:nvSpPr>
        <p:spPr>
          <a:xfrm>
            <a:off x="448236" y="259976"/>
            <a:ext cx="11295528" cy="950259"/>
          </a:xfrm>
        </p:spPr>
        <p:txBody>
          <a:bodyPr>
            <a:normAutofit/>
          </a:bodyPr>
          <a:lstStyle/>
          <a:p>
            <a:pPr algn="ctr"/>
            <a:r>
              <a:rPr lang="en-US" sz="5400" b="1" dirty="0">
                <a:solidFill>
                  <a:schemeClr val="accent1"/>
                </a:solidFill>
                <a:latin typeface="Algerian" panose="04020705040A02060702" pitchFamily="82" charset="0"/>
              </a:rPr>
              <a:t>What is an Algorithm?</a:t>
            </a:r>
            <a:endParaRPr lang="en-US" sz="5400" b="1" dirty="0">
              <a:latin typeface="Algerian" panose="04020705040A02060702" pitchFamily="82" charset="0"/>
            </a:endParaRPr>
          </a:p>
        </p:txBody>
      </p:sp>
      <p:sp>
        <p:nvSpPr>
          <p:cNvPr id="3" name="Content Placeholder 2">
            <a:extLst>
              <a:ext uri="{FF2B5EF4-FFF2-40B4-BE49-F238E27FC236}">
                <a16:creationId xmlns:a16="http://schemas.microsoft.com/office/drawing/2014/main" id="{E5392ECF-B524-47D3-BCFD-5DA2DF4C965D}"/>
              </a:ext>
            </a:extLst>
          </p:cNvPr>
          <p:cNvSpPr>
            <a:spLocks noGrp="1"/>
          </p:cNvSpPr>
          <p:nvPr>
            <p:ph idx="1"/>
          </p:nvPr>
        </p:nvSpPr>
        <p:spPr>
          <a:xfrm>
            <a:off x="1" y="1075765"/>
            <a:ext cx="12048564" cy="5782235"/>
          </a:xfrm>
        </p:spPr>
        <p:txBody>
          <a:bodyPr>
            <a:normAutofit/>
          </a:bodyPr>
          <a:lstStyle/>
          <a:p>
            <a:r>
              <a:rPr lang="en-US" sz="2000" dirty="0"/>
              <a:t>The concept of an algorithm is one of the most fundamental ideas in computer science. An algorithm is a finite sequence of well-defined, computer-implementable instructions, typically to solve a class of problems or to perform a computation.</a:t>
            </a:r>
          </a:p>
          <a:p>
            <a:pPr marL="0" indent="0" algn="ctr">
              <a:buNone/>
            </a:pPr>
            <a:r>
              <a:rPr lang="en-US" sz="3600" b="1" dirty="0">
                <a:solidFill>
                  <a:schemeClr val="accent1"/>
                </a:solidFill>
              </a:rPr>
              <a:t>Characteristics of an Algorithm</a:t>
            </a:r>
            <a:endParaRPr lang="en-US" sz="3600" dirty="0">
              <a:solidFill>
                <a:schemeClr val="accent1"/>
              </a:solidFill>
            </a:endParaRPr>
          </a:p>
          <a:p>
            <a:r>
              <a:rPr lang="en-US" sz="2000" dirty="0"/>
              <a:t>A well-defined algorithm has the following characteristics:</a:t>
            </a:r>
          </a:p>
          <a:p>
            <a:pPr>
              <a:buFont typeface="Arial" panose="020B0604020202020204" pitchFamily="34" charset="0"/>
              <a:buChar char="•"/>
            </a:pPr>
            <a:r>
              <a:rPr lang="en-US" sz="2000" b="1" dirty="0"/>
              <a:t>Input:</a:t>
            </a:r>
            <a:r>
              <a:rPr lang="en-US" sz="2000" dirty="0"/>
              <a:t> An algorithm has zero or more inputs, which are quantities that are given to it initially before it begins.</a:t>
            </a:r>
          </a:p>
          <a:p>
            <a:pPr>
              <a:buFont typeface="Arial" panose="020B0604020202020204" pitchFamily="34" charset="0"/>
              <a:buChar char="•"/>
            </a:pPr>
            <a:r>
              <a:rPr lang="en-US" sz="2000" b="1" dirty="0"/>
              <a:t>Output:</a:t>
            </a:r>
            <a:r>
              <a:rPr lang="en-US" sz="2000" dirty="0"/>
              <a:t> An algorithm has one or more outputs, which are quantities that have a specified relation to the inputs.</a:t>
            </a:r>
          </a:p>
          <a:p>
            <a:pPr>
              <a:buFont typeface="Arial" panose="020B0604020202020204" pitchFamily="34" charset="0"/>
              <a:buChar char="•"/>
            </a:pPr>
            <a:r>
              <a:rPr lang="en-US" sz="2000" b="1" dirty="0"/>
              <a:t>Finiteness:</a:t>
            </a:r>
            <a:r>
              <a:rPr lang="en-US" sz="2000" dirty="0"/>
              <a:t> An algorithm must always terminate after a finite number of steps.</a:t>
            </a:r>
          </a:p>
          <a:p>
            <a:pPr>
              <a:buFont typeface="Arial" panose="020B0604020202020204" pitchFamily="34" charset="0"/>
              <a:buChar char="•"/>
            </a:pPr>
            <a:r>
              <a:rPr lang="en-US" sz="2000" b="1" dirty="0"/>
              <a:t>Definiteness:</a:t>
            </a:r>
            <a:r>
              <a:rPr lang="en-US" sz="2000" dirty="0"/>
              <a:t> Each step of an algorithm must be precisely defined; the actions to be carried out must be rigorously and unambiguously specified for each case.</a:t>
            </a:r>
          </a:p>
          <a:p>
            <a:pPr>
              <a:buFont typeface="Arial" panose="020B0604020202020204" pitchFamily="34" charset="0"/>
              <a:buChar char="•"/>
            </a:pPr>
            <a:r>
              <a:rPr lang="en-US" sz="2000" b="1" dirty="0"/>
              <a:t>Effectiveness:</a:t>
            </a:r>
            <a:r>
              <a:rPr lang="en-US" sz="2000" dirty="0"/>
              <a:t> Each step must be simple enough that it can be carried out in a finite amount of time by a person with pencil and paper.</a:t>
            </a:r>
          </a:p>
          <a:p>
            <a:endParaRPr lang="en-US" dirty="0"/>
          </a:p>
        </p:txBody>
      </p:sp>
    </p:spTree>
    <p:extLst>
      <p:ext uri="{BB962C8B-B14F-4D97-AF65-F5344CB8AC3E}">
        <p14:creationId xmlns:p14="http://schemas.microsoft.com/office/powerpoint/2010/main" val="2678427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69E78EE-A250-42D3-9640-08D761112BFD}"/>
              </a:ext>
            </a:extLst>
          </p:cNvPr>
          <p:cNvSpPr>
            <a:spLocks noGrp="1"/>
          </p:cNvSpPr>
          <p:nvPr>
            <p:ph type="title"/>
          </p:nvPr>
        </p:nvSpPr>
        <p:spPr>
          <a:xfrm>
            <a:off x="913795" y="609600"/>
            <a:ext cx="10353761" cy="1326321"/>
          </a:xfrm>
        </p:spPr>
        <p:txBody>
          <a:bodyPr/>
          <a:lstStyle/>
          <a:p>
            <a:r>
              <a:rPr kumimoji="0" lang="en-US" altLang="en-US" sz="4800" b="1" i="0" u="none" strike="noStrike" cap="none" normalizeH="0" baseline="0" dirty="0">
                <a:ln>
                  <a:noFill/>
                </a:ln>
                <a:solidFill>
                  <a:schemeClr val="tx1"/>
                </a:solidFill>
                <a:effectLst/>
                <a:latin typeface="Arial" panose="020B0604020202020204" pitchFamily="34" charset="0"/>
              </a:rPr>
              <a:t>An Example of an Algorithm</a:t>
            </a:r>
            <a:endParaRPr lang="en-US" dirty="0"/>
          </a:p>
        </p:txBody>
      </p:sp>
      <p:sp>
        <p:nvSpPr>
          <p:cNvPr id="5" name="Rectangle 1">
            <a:extLst>
              <a:ext uri="{FF2B5EF4-FFF2-40B4-BE49-F238E27FC236}">
                <a16:creationId xmlns:a16="http://schemas.microsoft.com/office/drawing/2014/main" id="{D740B944-104D-416A-8249-4D873519D064}"/>
              </a:ext>
            </a:extLst>
          </p:cNvPr>
          <p:cNvSpPr>
            <a:spLocks noGrp="1" noChangeArrowheads="1"/>
          </p:cNvSpPr>
          <p:nvPr>
            <p:ph idx="1"/>
          </p:nvPr>
        </p:nvSpPr>
        <p:spPr bwMode="auto">
          <a:xfrm>
            <a:off x="138546" y="1478062"/>
            <a:ext cx="11883126"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Let's consider a simple example of an algorithm: finding the largest number in a list of numbers.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Problem:</a:t>
            </a:r>
            <a:r>
              <a:rPr kumimoji="0" lang="en-US" altLang="en-US" sz="2400" b="0" i="0" u="none" strike="noStrike" cap="none" normalizeH="0" baseline="0" dirty="0">
                <a:ln>
                  <a:noFill/>
                </a:ln>
                <a:solidFill>
                  <a:schemeClr val="tx1"/>
                </a:solidFill>
                <a:effectLst/>
                <a:latin typeface="Arial" panose="020B0604020202020204" pitchFamily="34" charset="0"/>
              </a:rPr>
              <a:t> Given a list of positive numbers, find the largest number in the list.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Algorithm:</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400" b="0" i="0" u="none" strike="noStrike" cap="none" normalizeH="0" baseline="0" dirty="0">
                <a:ln>
                  <a:noFill/>
                </a:ln>
                <a:solidFill>
                  <a:schemeClr val="tx1"/>
                </a:solidFill>
                <a:effectLst/>
                <a:latin typeface="Arial" panose="020B0604020202020204" pitchFamily="34" charset="0"/>
              </a:rPr>
              <a:t>Assume the first number in the list is the largest. Let's call it </a:t>
            </a:r>
            <a:r>
              <a:rPr kumimoji="0" lang="en-US" altLang="en-US" b="0" i="1" u="none" strike="noStrike" cap="none" normalizeH="0" baseline="0" dirty="0" err="1">
                <a:ln>
                  <a:noFill/>
                </a:ln>
                <a:solidFill>
                  <a:schemeClr val="accent1">
                    <a:lumMod val="60000"/>
                    <a:lumOff val="40000"/>
                  </a:schemeClr>
                </a:solidFill>
                <a:effectLst/>
                <a:latin typeface="Arial Unicode MS"/>
              </a:rPr>
              <a:t>largest_number</a:t>
            </a:r>
            <a:r>
              <a:rPr kumimoji="0" lang="en-US" altLang="en-US" sz="1400" b="0" i="0" u="none" strike="noStrike" cap="none" normalizeH="0" baseline="0" dirty="0">
                <a:ln>
                  <a:noFill/>
                </a:ln>
                <a:solidFill>
                  <a:schemeClr val="tx1"/>
                </a:solidFill>
                <a:effectLst/>
              </a:rPr>
              <a:t>.</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0" i="0" u="none" strike="noStrike" cap="none" normalizeH="0" baseline="0" dirty="0">
                <a:ln>
                  <a:noFill/>
                </a:ln>
                <a:solidFill>
                  <a:schemeClr val="tx1"/>
                </a:solidFill>
                <a:effectLst/>
                <a:latin typeface="Arial" panose="020B0604020202020204" pitchFamily="34" charset="0"/>
              </a:rPr>
              <a:t>Go through the rest of the numbers in the list one by one.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0" i="0" u="none" strike="noStrike" cap="none" normalizeH="0" baseline="0" dirty="0">
                <a:ln>
                  <a:noFill/>
                </a:ln>
                <a:solidFill>
                  <a:schemeClr val="tx1"/>
                </a:solidFill>
                <a:effectLst/>
                <a:latin typeface="Arial" panose="020B0604020202020204" pitchFamily="34" charset="0"/>
              </a:rPr>
              <a:t>For each number, compare it with </a:t>
            </a:r>
            <a:r>
              <a:rPr kumimoji="0" lang="en-US" altLang="en-US" b="0" i="1" u="none" strike="noStrike" cap="none" normalizeH="0" baseline="0" dirty="0" err="1">
                <a:ln>
                  <a:noFill/>
                </a:ln>
                <a:solidFill>
                  <a:schemeClr val="accent1">
                    <a:lumMod val="60000"/>
                    <a:lumOff val="40000"/>
                  </a:schemeClr>
                </a:solidFill>
                <a:effectLst/>
                <a:latin typeface="Arial Unicode MS"/>
              </a:rPr>
              <a:t>largest_number</a:t>
            </a:r>
            <a:r>
              <a:rPr kumimoji="0" lang="en-US" altLang="en-US" b="0" i="1" u="none" strike="noStrike" cap="none" normalizeH="0" baseline="0" dirty="0">
                <a:ln>
                  <a:noFill/>
                </a:ln>
                <a:solidFill>
                  <a:schemeClr val="accent1">
                    <a:lumMod val="60000"/>
                    <a:lumOff val="40000"/>
                  </a:schemeClr>
                </a:solidFill>
                <a:effectLst/>
              </a:rPr>
              <a:t>.</a:t>
            </a:r>
            <a:r>
              <a:rPr kumimoji="0" lang="en-US" altLang="en-US" b="0" i="1" u="none" strike="noStrike" cap="none" normalizeH="0" baseline="0" dirty="0">
                <a:ln>
                  <a:noFill/>
                </a:ln>
                <a:solidFill>
                  <a:schemeClr val="accent1">
                    <a:lumMod val="60000"/>
                    <a:lumOff val="40000"/>
                  </a:schemeClr>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400" b="0" i="0" u="none" strike="noStrike" cap="none" normalizeH="0" baseline="0" dirty="0">
                <a:ln>
                  <a:noFill/>
                </a:ln>
                <a:solidFill>
                  <a:schemeClr val="tx1"/>
                </a:solidFill>
                <a:effectLst/>
                <a:latin typeface="Arial" panose="020B0604020202020204" pitchFamily="34" charset="0"/>
              </a:rPr>
              <a:t>If the current number is greater than </a:t>
            </a:r>
            <a:r>
              <a:rPr kumimoji="0" lang="en-US" altLang="en-US" sz="1600" b="0" i="1" u="none" strike="noStrike" cap="none" normalizeH="0" baseline="0" dirty="0" err="1">
                <a:ln>
                  <a:noFill/>
                </a:ln>
                <a:solidFill>
                  <a:schemeClr val="accent1">
                    <a:lumMod val="60000"/>
                    <a:lumOff val="40000"/>
                  </a:schemeClr>
                </a:solidFill>
                <a:effectLst/>
                <a:latin typeface="Arial Unicode MS"/>
              </a:rPr>
              <a:t>largest_number</a:t>
            </a:r>
            <a:r>
              <a:rPr kumimoji="0" lang="en-US" altLang="en-US" sz="1600" b="0" i="1" u="none" strike="noStrike" cap="none" normalizeH="0" baseline="0" dirty="0">
                <a:ln>
                  <a:noFill/>
                </a:ln>
                <a:solidFill>
                  <a:schemeClr val="accent1">
                    <a:lumMod val="60000"/>
                    <a:lumOff val="40000"/>
                  </a:schemeClr>
                </a:solidFill>
                <a:effectLst/>
                <a:latin typeface="Arial Unicode MS"/>
              </a:rPr>
              <a:t> </a:t>
            </a:r>
            <a:r>
              <a:rPr kumimoji="0" lang="en-US" altLang="en-US" sz="1400" b="0" i="0" u="none" strike="noStrike" cap="none" normalizeH="0" baseline="0" dirty="0">
                <a:ln>
                  <a:noFill/>
                </a:ln>
                <a:solidFill>
                  <a:schemeClr val="tx1"/>
                </a:solidFill>
                <a:effectLst/>
              </a:rPr>
              <a:t>then update </a:t>
            </a:r>
            <a:r>
              <a:rPr kumimoji="0" lang="en-US" altLang="en-US" sz="1600" b="0" i="1" u="none" strike="noStrike" cap="none" normalizeH="0" baseline="0" dirty="0" err="1">
                <a:ln>
                  <a:noFill/>
                </a:ln>
                <a:solidFill>
                  <a:schemeClr val="accent1">
                    <a:lumMod val="60000"/>
                    <a:lumOff val="40000"/>
                  </a:schemeClr>
                </a:solidFill>
                <a:effectLst/>
                <a:latin typeface="Arial Unicode MS"/>
              </a:rPr>
              <a:t>largest_number</a:t>
            </a:r>
            <a:r>
              <a:rPr kumimoji="0" lang="en-US" altLang="en-US" sz="1600" b="0" i="1" u="none" strike="noStrike" cap="none" normalizeH="0" baseline="0" dirty="0">
                <a:ln>
                  <a:noFill/>
                </a:ln>
                <a:solidFill>
                  <a:schemeClr val="accent1">
                    <a:lumMod val="60000"/>
                    <a:lumOff val="40000"/>
                  </a:schemeClr>
                </a:solidFill>
                <a:effectLst/>
                <a:latin typeface="Arial Unicode MS"/>
              </a:rPr>
              <a:t> </a:t>
            </a:r>
            <a:r>
              <a:rPr kumimoji="0" lang="en-US" altLang="en-US" sz="1400" b="0" i="0" u="none" strike="noStrike" cap="none" normalizeH="0" baseline="0" dirty="0">
                <a:ln>
                  <a:noFill/>
                </a:ln>
                <a:solidFill>
                  <a:schemeClr val="tx1"/>
                </a:solidFill>
                <a:effectLst/>
              </a:rPr>
              <a:t>to be the current number.</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400" b="0" i="0" u="none" strike="noStrike" cap="none" normalizeH="0" baseline="0" dirty="0">
                <a:ln>
                  <a:noFill/>
                </a:ln>
                <a:solidFill>
                  <a:schemeClr val="tx1"/>
                </a:solidFill>
                <a:effectLst/>
                <a:latin typeface="Arial" panose="020B0604020202020204" pitchFamily="34" charset="0"/>
              </a:rPr>
              <a:t>After going through all the numbers, </a:t>
            </a:r>
            <a:r>
              <a:rPr kumimoji="0" lang="en-US" altLang="en-US" sz="1600" b="0" i="1" u="none" strike="noStrike" cap="none" normalizeH="0" baseline="0" dirty="0" err="1">
                <a:ln>
                  <a:noFill/>
                </a:ln>
                <a:solidFill>
                  <a:schemeClr val="accent1">
                    <a:lumMod val="60000"/>
                    <a:lumOff val="40000"/>
                  </a:schemeClr>
                </a:solidFill>
                <a:effectLst/>
                <a:latin typeface="Arial Unicode MS"/>
              </a:rPr>
              <a:t>largest_number</a:t>
            </a:r>
            <a:r>
              <a:rPr kumimoji="0" lang="en-US" altLang="en-US" sz="1600" b="0" i="1" u="none" strike="noStrike" cap="none" normalizeH="0" baseline="0" dirty="0">
                <a:ln>
                  <a:noFill/>
                </a:ln>
                <a:solidFill>
                  <a:schemeClr val="accent1">
                    <a:lumMod val="60000"/>
                    <a:lumOff val="40000"/>
                  </a:schemeClr>
                </a:solidFill>
                <a:effectLst/>
                <a:latin typeface="Arial Unicode MS"/>
              </a:rPr>
              <a:t> </a:t>
            </a:r>
            <a:r>
              <a:rPr kumimoji="0" lang="en-US" altLang="en-US" sz="1400" b="0" i="0" u="none" strike="noStrike" cap="none" normalizeH="0" baseline="0" dirty="0">
                <a:ln>
                  <a:noFill/>
                </a:ln>
                <a:solidFill>
                  <a:schemeClr val="tx1"/>
                </a:solidFill>
                <a:effectLst/>
              </a:rPr>
              <a:t>will hold the largest number in the list.</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52782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D81E34C-6BDA-40EE-8152-D4A47A3554A2}"/>
              </a:ext>
            </a:extLst>
          </p:cNvPr>
          <p:cNvSpPr>
            <a:spLocks noGrp="1"/>
          </p:cNvSpPr>
          <p:nvPr>
            <p:ph type="title"/>
          </p:nvPr>
        </p:nvSpPr>
        <p:spPr>
          <a:xfrm>
            <a:off x="913795" y="609600"/>
            <a:ext cx="10353761" cy="1326321"/>
          </a:xfrm>
        </p:spPr>
        <p:txBody>
          <a:bodyPr/>
          <a:lstStyle/>
          <a:p>
            <a:r>
              <a:rPr lang="en-US" sz="4800" b="1" dirty="0"/>
              <a:t>Why are Algorithms Important?</a:t>
            </a:r>
            <a:endParaRPr lang="en-US" sz="4800" dirty="0"/>
          </a:p>
        </p:txBody>
      </p:sp>
      <p:sp>
        <p:nvSpPr>
          <p:cNvPr id="5" name="Content Placeholder 2">
            <a:extLst>
              <a:ext uri="{FF2B5EF4-FFF2-40B4-BE49-F238E27FC236}">
                <a16:creationId xmlns:a16="http://schemas.microsoft.com/office/drawing/2014/main" id="{41A53C2E-1E0F-40C7-84FF-8617CE966336}"/>
              </a:ext>
            </a:extLst>
          </p:cNvPr>
          <p:cNvSpPr>
            <a:spLocks noGrp="1"/>
          </p:cNvSpPr>
          <p:nvPr>
            <p:ph idx="1"/>
          </p:nvPr>
        </p:nvSpPr>
        <p:spPr>
          <a:xfrm>
            <a:off x="166254" y="1935921"/>
            <a:ext cx="12025745" cy="4741970"/>
          </a:xfrm>
        </p:spPr>
        <p:txBody>
          <a:bodyPr>
            <a:normAutofit lnSpcReduction="10000"/>
          </a:bodyPr>
          <a:lstStyle/>
          <a:p>
            <a:r>
              <a:rPr lang="en-US" sz="2800" b="1" dirty="0"/>
              <a:t>Algorithms are the building blocks of computer programs. Every task that a computer performs is the result of an algorithm. Computer scientists design and analyze algorithms to find the most efficient solutions to problems.</a:t>
            </a:r>
          </a:p>
          <a:p>
            <a:r>
              <a:rPr lang="en-US" sz="2800" b="1" dirty="0"/>
              <a:t>The study of algorithms is a major field within computer science. It involves designing new algorithms, analyzing their efficiency, and understanding their limitations.</a:t>
            </a:r>
          </a:p>
          <a:p>
            <a:r>
              <a:rPr lang="en-US" sz="2800" b="1" dirty="0"/>
              <a:t>This concludes the first module of our course. In the next module, we will dive into the fundamentals of programming using the Python language. We will learn how to write our own algorithms and translate them into code.</a:t>
            </a:r>
          </a:p>
          <a:p>
            <a:endParaRPr lang="en-US" dirty="0"/>
          </a:p>
        </p:txBody>
      </p:sp>
    </p:spTree>
    <p:extLst>
      <p:ext uri="{BB962C8B-B14F-4D97-AF65-F5344CB8AC3E}">
        <p14:creationId xmlns:p14="http://schemas.microsoft.com/office/powerpoint/2010/main" val="2557407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06F56-4F66-4A20-AF99-0463BF365676}"/>
              </a:ext>
            </a:extLst>
          </p:cNvPr>
          <p:cNvSpPr>
            <a:spLocks noGrp="1"/>
          </p:cNvSpPr>
          <p:nvPr>
            <p:ph type="title"/>
          </p:nvPr>
        </p:nvSpPr>
        <p:spPr>
          <a:xfrm>
            <a:off x="646111" y="268941"/>
            <a:ext cx="11779623" cy="1584307"/>
          </a:xfrm>
        </p:spPr>
        <p:txBody>
          <a:bodyPr/>
          <a:lstStyle/>
          <a:p>
            <a:r>
              <a:rPr lang="en-US" sz="4000" b="1" dirty="0"/>
              <a:t>Introduction to Algorithmic Thinking</a:t>
            </a:r>
            <a:endParaRPr lang="en-US" sz="4000" dirty="0"/>
          </a:p>
        </p:txBody>
      </p:sp>
      <p:sp>
        <p:nvSpPr>
          <p:cNvPr id="3" name="Content Placeholder 2">
            <a:extLst>
              <a:ext uri="{FF2B5EF4-FFF2-40B4-BE49-F238E27FC236}">
                <a16:creationId xmlns:a16="http://schemas.microsoft.com/office/drawing/2014/main" id="{1872A904-BAA4-4282-BFD5-5190DC4DF19C}"/>
              </a:ext>
            </a:extLst>
          </p:cNvPr>
          <p:cNvSpPr>
            <a:spLocks noGrp="1"/>
          </p:cNvSpPr>
          <p:nvPr>
            <p:ph idx="1"/>
          </p:nvPr>
        </p:nvSpPr>
        <p:spPr>
          <a:xfrm>
            <a:off x="188258" y="1465729"/>
            <a:ext cx="11779623" cy="5123330"/>
          </a:xfrm>
        </p:spPr>
        <p:txBody>
          <a:bodyPr>
            <a:normAutofit/>
          </a:bodyPr>
          <a:lstStyle/>
          <a:p>
            <a:r>
              <a:rPr lang="en-US" sz="2800" b="1" dirty="0"/>
              <a:t>Algorithmic thinking is the process of breaking down a problem into a series of steps that can be followed to solve it. It's a fundamental skill in computer science, but it's also a valuable skill in many other fields.</a:t>
            </a:r>
          </a:p>
          <a:p>
            <a:r>
              <a:rPr lang="en-US" sz="2800" b="1" dirty="0"/>
              <a:t>In this section, you'll learn the basics of algorithmic thinking, including:</a:t>
            </a:r>
          </a:p>
          <a:p>
            <a:pPr>
              <a:buFont typeface="Arial" panose="020B0604020202020204" pitchFamily="34" charset="0"/>
              <a:buChar char="•"/>
            </a:pPr>
            <a:r>
              <a:rPr lang="en-US" sz="2800" b="1" dirty="0"/>
              <a:t>What is an algorithm?</a:t>
            </a:r>
          </a:p>
          <a:p>
            <a:pPr>
              <a:buFont typeface="Arial" panose="020B0604020202020204" pitchFamily="34" charset="0"/>
              <a:buChar char="•"/>
            </a:pPr>
            <a:r>
              <a:rPr lang="en-US" sz="2800" b="1" dirty="0"/>
              <a:t>How to design an algorithm.</a:t>
            </a:r>
          </a:p>
          <a:p>
            <a:pPr>
              <a:buFont typeface="Arial" panose="020B0604020202020204" pitchFamily="34" charset="0"/>
              <a:buChar char="•"/>
            </a:pPr>
            <a:r>
              <a:rPr lang="en-US" sz="2800" b="1" dirty="0"/>
              <a:t>How to analyze an algorithm's efficiency.</a:t>
            </a:r>
          </a:p>
          <a:p>
            <a:pPr>
              <a:buFont typeface="Arial" panose="020B0604020202020204" pitchFamily="34" charset="0"/>
              <a:buChar char="•"/>
            </a:pPr>
            <a:r>
              <a:rPr lang="en-US" sz="2800" b="1" dirty="0"/>
              <a:t>Common algorithmic patterns.</a:t>
            </a:r>
          </a:p>
          <a:p>
            <a:endParaRPr lang="en-US" sz="2800" b="1" dirty="0"/>
          </a:p>
        </p:txBody>
      </p:sp>
    </p:spTree>
    <p:extLst>
      <p:ext uri="{BB962C8B-B14F-4D97-AF65-F5344CB8AC3E}">
        <p14:creationId xmlns:p14="http://schemas.microsoft.com/office/powerpoint/2010/main" val="2132439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E88CD-074D-48BD-8166-A50504F5752C}"/>
              </a:ext>
            </a:extLst>
          </p:cNvPr>
          <p:cNvSpPr>
            <a:spLocks noGrp="1"/>
          </p:cNvSpPr>
          <p:nvPr>
            <p:ph type="title"/>
          </p:nvPr>
        </p:nvSpPr>
        <p:spPr>
          <a:xfrm>
            <a:off x="646111" y="439271"/>
            <a:ext cx="9404723" cy="932329"/>
          </a:xfrm>
        </p:spPr>
        <p:txBody>
          <a:bodyPr/>
          <a:lstStyle/>
          <a:p>
            <a:pPr algn="ctr"/>
            <a:r>
              <a:rPr lang="en-US" b="1" dirty="0"/>
              <a:t>Decomposition</a:t>
            </a:r>
            <a:endParaRPr lang="en-US" dirty="0"/>
          </a:p>
        </p:txBody>
      </p:sp>
      <p:sp>
        <p:nvSpPr>
          <p:cNvPr id="3" name="Content Placeholder 2">
            <a:extLst>
              <a:ext uri="{FF2B5EF4-FFF2-40B4-BE49-F238E27FC236}">
                <a16:creationId xmlns:a16="http://schemas.microsoft.com/office/drawing/2014/main" id="{10D8DB67-79FA-4A44-89FB-B10895B8860C}"/>
              </a:ext>
            </a:extLst>
          </p:cNvPr>
          <p:cNvSpPr>
            <a:spLocks noGrp="1"/>
          </p:cNvSpPr>
          <p:nvPr>
            <p:ph idx="1"/>
          </p:nvPr>
        </p:nvSpPr>
        <p:spPr>
          <a:xfrm>
            <a:off x="645132" y="1264024"/>
            <a:ext cx="11094150" cy="5141258"/>
          </a:xfrm>
        </p:spPr>
        <p:txBody>
          <a:bodyPr>
            <a:normAutofit fontScale="92500" lnSpcReduction="10000"/>
          </a:bodyPr>
          <a:lstStyle/>
          <a:p>
            <a:r>
              <a:rPr lang="en-US" sz="3200" dirty="0"/>
              <a:t>Decomposition is the process of breaking down a complex problem into smaller, more manageable subproblems. This is a key step in algorithmic thinking, as it allows you to focus on solving one part of the problem at a time.</a:t>
            </a:r>
          </a:p>
          <a:p>
            <a:r>
              <a:rPr lang="en-US" sz="3200" dirty="0"/>
              <a:t>When you're decomposing a problem, it's important to identify the different components of the problem and how they relate to each other. You can then create a separate algorithm for each subproblem.</a:t>
            </a:r>
          </a:p>
          <a:p>
            <a:r>
              <a:rPr lang="en-US" sz="3200" dirty="0"/>
              <a:t>Once you've solved all of the subproblems, you can combine the solutions to solve the original problem.</a:t>
            </a:r>
          </a:p>
          <a:p>
            <a:endParaRPr lang="en-US" sz="3200" dirty="0"/>
          </a:p>
        </p:txBody>
      </p:sp>
    </p:spTree>
    <p:extLst>
      <p:ext uri="{BB962C8B-B14F-4D97-AF65-F5344CB8AC3E}">
        <p14:creationId xmlns:p14="http://schemas.microsoft.com/office/powerpoint/2010/main" val="659078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34715-AD56-4723-AD38-69385D63682F}"/>
              </a:ext>
            </a:extLst>
          </p:cNvPr>
          <p:cNvSpPr>
            <a:spLocks noGrp="1"/>
          </p:cNvSpPr>
          <p:nvPr>
            <p:ph type="title"/>
          </p:nvPr>
        </p:nvSpPr>
        <p:spPr>
          <a:xfrm>
            <a:off x="757795" y="134472"/>
            <a:ext cx="9404723" cy="1400530"/>
          </a:xfrm>
        </p:spPr>
        <p:txBody>
          <a:bodyPr/>
          <a:lstStyle/>
          <a:p>
            <a:r>
              <a:rPr lang="en-US" b="1" dirty="0">
                <a:solidFill>
                  <a:srgbClr val="FF0000"/>
                </a:solidFill>
              </a:rPr>
              <a:t>Level 1 Decomposition: Main Stages of Meal Preparation</a:t>
            </a:r>
            <a:br>
              <a:rPr lang="en-US" b="1" dirty="0"/>
            </a:br>
            <a:endParaRPr lang="en-US" dirty="0"/>
          </a:p>
        </p:txBody>
      </p:sp>
      <p:sp>
        <p:nvSpPr>
          <p:cNvPr id="3" name="Content Placeholder 2">
            <a:extLst>
              <a:ext uri="{FF2B5EF4-FFF2-40B4-BE49-F238E27FC236}">
                <a16:creationId xmlns:a16="http://schemas.microsoft.com/office/drawing/2014/main" id="{8DF6F0C3-4A8F-4C2E-8F1F-AEAC72083A01}"/>
              </a:ext>
            </a:extLst>
          </p:cNvPr>
          <p:cNvSpPr>
            <a:spLocks noGrp="1"/>
          </p:cNvSpPr>
          <p:nvPr>
            <p:ph sz="half" idx="1"/>
          </p:nvPr>
        </p:nvSpPr>
        <p:spPr>
          <a:xfrm>
            <a:off x="646111" y="1853248"/>
            <a:ext cx="4814046" cy="4870280"/>
          </a:xfrm>
        </p:spPr>
        <p:txBody>
          <a:bodyPr>
            <a:normAutofit fontScale="92500" lnSpcReduction="20000"/>
          </a:bodyPr>
          <a:lstStyle/>
          <a:p>
            <a:pPr>
              <a:buFont typeface="+mj-lt"/>
              <a:buAutoNum type="arabicPeriod"/>
            </a:pPr>
            <a:r>
              <a:rPr lang="en-US" b="1" dirty="0"/>
              <a:t>Planning the Meal:</a:t>
            </a:r>
            <a:r>
              <a:rPr lang="en-US" dirty="0"/>
              <a:t> </a:t>
            </a:r>
          </a:p>
          <a:p>
            <a:pPr marL="742950" lvl="1" indent="-285750">
              <a:buFont typeface="+mj-lt"/>
              <a:buAutoNum type="arabicPeriod"/>
            </a:pPr>
            <a:r>
              <a:rPr lang="en-US" dirty="0"/>
              <a:t>Decide on the menu (appetizer, main course, dessert, drinks).</a:t>
            </a:r>
          </a:p>
          <a:p>
            <a:pPr marL="742950" lvl="1" indent="-285750">
              <a:buFont typeface="+mj-lt"/>
              <a:buAutoNum type="arabicPeriod"/>
            </a:pPr>
            <a:r>
              <a:rPr lang="en-US" dirty="0"/>
              <a:t>Check for dietary restrictions or allergies of guests.</a:t>
            </a:r>
          </a:p>
          <a:p>
            <a:pPr marL="742950" lvl="1" indent="-285750">
              <a:buFont typeface="+mj-lt"/>
              <a:buAutoNum type="arabicPeriod"/>
            </a:pPr>
            <a:r>
              <a:rPr lang="en-US" dirty="0"/>
              <a:t>Create a grocery list based on the menu.</a:t>
            </a:r>
          </a:p>
          <a:p>
            <a:pPr>
              <a:buFont typeface="+mj-lt"/>
              <a:buAutoNum type="arabicPeriod"/>
            </a:pPr>
            <a:r>
              <a:rPr lang="en-US" b="1" dirty="0"/>
              <a:t>Shopping for Ingredients:</a:t>
            </a:r>
            <a:r>
              <a:rPr lang="en-US" dirty="0"/>
              <a:t> </a:t>
            </a:r>
          </a:p>
          <a:p>
            <a:pPr marL="742950" lvl="1" indent="-285750">
              <a:buFont typeface="+mj-lt"/>
              <a:buAutoNum type="arabicPeriod"/>
            </a:pPr>
            <a:r>
              <a:rPr lang="en-US" dirty="0"/>
              <a:t>Travel to the grocery store.</a:t>
            </a:r>
          </a:p>
          <a:p>
            <a:pPr marL="742950" lvl="1" indent="-285750">
              <a:buFont typeface="+mj-lt"/>
              <a:buAutoNum type="arabicPeriod"/>
            </a:pPr>
            <a:r>
              <a:rPr lang="en-US" dirty="0"/>
              <a:t>Locate all items on the grocery list.</a:t>
            </a:r>
          </a:p>
          <a:p>
            <a:pPr marL="742950" lvl="1" indent="-285750">
              <a:buFont typeface="+mj-lt"/>
              <a:buAutoNum type="arabicPeriod"/>
            </a:pPr>
            <a:r>
              <a:rPr lang="en-US" dirty="0"/>
              <a:t>Purchase ingredients.</a:t>
            </a:r>
          </a:p>
          <a:p>
            <a:pPr marL="742950" lvl="1" indent="-285750">
              <a:buFont typeface="+mj-lt"/>
              <a:buAutoNum type="arabicPeriod"/>
            </a:pPr>
            <a:r>
              <a:rPr lang="en-US" dirty="0"/>
              <a:t>Return home with groceries.</a:t>
            </a:r>
          </a:p>
          <a:p>
            <a:pPr>
              <a:buFont typeface="+mj-lt"/>
              <a:buAutoNum type="arabicPeriod"/>
            </a:pPr>
            <a:r>
              <a:rPr lang="en-US" b="1" dirty="0"/>
              <a:t>Pre-Preparation (Mise </a:t>
            </a:r>
            <a:r>
              <a:rPr lang="en-US" b="1" dirty="0" err="1"/>
              <a:t>en</a:t>
            </a:r>
            <a:r>
              <a:rPr lang="en-US" b="1" dirty="0"/>
              <a:t> Place):</a:t>
            </a:r>
            <a:r>
              <a:rPr lang="en-US" dirty="0"/>
              <a:t> </a:t>
            </a:r>
          </a:p>
          <a:p>
            <a:pPr marL="742950" lvl="1" indent="-285750">
              <a:buFont typeface="+mj-lt"/>
              <a:buAutoNum type="arabicPeriod"/>
            </a:pPr>
            <a:r>
              <a:rPr lang="en-US" dirty="0"/>
              <a:t>Wash and chop vegetables.</a:t>
            </a:r>
          </a:p>
          <a:p>
            <a:pPr marL="742950" lvl="1" indent="-285750">
              <a:buFont typeface="+mj-lt"/>
              <a:buAutoNum type="arabicPeriod"/>
            </a:pPr>
            <a:r>
              <a:rPr lang="en-US" dirty="0"/>
              <a:t>Measure out spices and liquids.</a:t>
            </a:r>
          </a:p>
          <a:p>
            <a:pPr marL="742950" lvl="1" indent="-285750">
              <a:buFont typeface="+mj-lt"/>
              <a:buAutoNum type="arabicPeriod"/>
            </a:pPr>
            <a:r>
              <a:rPr lang="en-US" dirty="0"/>
              <a:t>Marinate meats, if necessary.</a:t>
            </a:r>
          </a:p>
          <a:p>
            <a:pPr marL="742950" lvl="1" indent="-285750">
              <a:buFont typeface="+mj-lt"/>
              <a:buAutoNum type="arabicPeriod"/>
            </a:pPr>
            <a:r>
              <a:rPr lang="en-US" dirty="0"/>
              <a:t>Set up cooking stations.</a:t>
            </a:r>
          </a:p>
          <a:p>
            <a:pPr>
              <a:buFont typeface="+mj-lt"/>
              <a:buAutoNum type="arabicPeriod"/>
            </a:pPr>
            <a:endParaRPr lang="en-US" dirty="0"/>
          </a:p>
        </p:txBody>
      </p:sp>
      <p:sp>
        <p:nvSpPr>
          <p:cNvPr id="4" name="Content Placeholder 3">
            <a:extLst>
              <a:ext uri="{FF2B5EF4-FFF2-40B4-BE49-F238E27FC236}">
                <a16:creationId xmlns:a16="http://schemas.microsoft.com/office/drawing/2014/main" id="{122A72DE-2224-4423-B860-7831C2EAFC77}"/>
              </a:ext>
            </a:extLst>
          </p:cNvPr>
          <p:cNvSpPr>
            <a:spLocks noGrp="1"/>
          </p:cNvSpPr>
          <p:nvPr>
            <p:ph sz="half" idx="2"/>
          </p:nvPr>
        </p:nvSpPr>
        <p:spPr>
          <a:xfrm>
            <a:off x="6319921" y="1853248"/>
            <a:ext cx="4752238" cy="4749258"/>
          </a:xfrm>
        </p:spPr>
        <p:txBody>
          <a:bodyPr>
            <a:noAutofit/>
          </a:bodyPr>
          <a:lstStyle/>
          <a:p>
            <a:pPr marL="0" indent="0">
              <a:buNone/>
            </a:pPr>
            <a:r>
              <a:rPr lang="en-US" sz="1600" b="1" dirty="0"/>
              <a:t>4.  Cooking the Dishes:</a:t>
            </a:r>
            <a:r>
              <a:rPr lang="en-US" sz="1600" dirty="0"/>
              <a:t> </a:t>
            </a:r>
          </a:p>
          <a:p>
            <a:pPr marL="742950" lvl="1" indent="-285750">
              <a:buFont typeface="+mj-lt"/>
              <a:buAutoNum type="arabicPeriod"/>
            </a:pPr>
            <a:r>
              <a:rPr lang="en-US" dirty="0"/>
              <a:t>Cook the appetizer.</a:t>
            </a:r>
          </a:p>
          <a:p>
            <a:pPr marL="742950" lvl="1" indent="-285750">
              <a:buFont typeface="+mj-lt"/>
              <a:buAutoNum type="arabicPeriod"/>
            </a:pPr>
            <a:r>
              <a:rPr lang="en-US" dirty="0"/>
              <a:t>Cook the main course.</a:t>
            </a:r>
          </a:p>
          <a:p>
            <a:pPr marL="742950" lvl="1" indent="-285750">
              <a:buFont typeface="+mj-lt"/>
              <a:buAutoNum type="arabicPeriod"/>
            </a:pPr>
            <a:r>
              <a:rPr lang="en-US" dirty="0"/>
              <a:t>Prepare the side dishes.</a:t>
            </a:r>
          </a:p>
          <a:p>
            <a:pPr marL="742950" lvl="1" indent="-285750">
              <a:buFont typeface="+mj-lt"/>
              <a:buAutoNum type="arabicPeriod"/>
            </a:pPr>
            <a:r>
              <a:rPr lang="en-US" dirty="0"/>
              <a:t>Bake/prepare the dessert</a:t>
            </a:r>
          </a:p>
          <a:p>
            <a:pPr marL="0" indent="0">
              <a:buNone/>
            </a:pPr>
            <a:r>
              <a:rPr lang="en-US" sz="1600" b="1" dirty="0"/>
              <a:t>5.  Serving the Meal:</a:t>
            </a:r>
            <a:r>
              <a:rPr lang="en-US" sz="1600" dirty="0"/>
              <a:t> </a:t>
            </a:r>
          </a:p>
          <a:p>
            <a:pPr marL="742950" lvl="1" indent="-285750">
              <a:buFont typeface="+mj-lt"/>
              <a:buAutoNum type="arabicPeriod"/>
            </a:pPr>
            <a:r>
              <a:rPr lang="en-US" dirty="0"/>
              <a:t>Plate the food aesthetically.</a:t>
            </a:r>
          </a:p>
          <a:p>
            <a:pPr marL="742950" lvl="1" indent="-285750">
              <a:buFont typeface="+mj-lt"/>
              <a:buAutoNum type="arabicPeriod"/>
            </a:pPr>
            <a:r>
              <a:rPr lang="en-US" dirty="0"/>
              <a:t>Arrange the dining table.</a:t>
            </a:r>
          </a:p>
          <a:p>
            <a:pPr marL="742950" lvl="1" indent="-285750">
              <a:buFont typeface="+mj-lt"/>
              <a:buAutoNum type="arabicPeriod"/>
            </a:pPr>
            <a:r>
              <a:rPr lang="en-US" dirty="0"/>
              <a:t>Serve guests.</a:t>
            </a:r>
          </a:p>
          <a:p>
            <a:pPr marL="0" indent="0">
              <a:buNone/>
            </a:pPr>
            <a:r>
              <a:rPr lang="en-US" sz="1600" b="1" dirty="0"/>
              <a:t>6.  Cleaning Up:</a:t>
            </a:r>
            <a:r>
              <a:rPr lang="en-US" sz="1600" dirty="0"/>
              <a:t> </a:t>
            </a:r>
          </a:p>
          <a:p>
            <a:pPr marL="742950" lvl="1" indent="-285750">
              <a:buFont typeface="+mj-lt"/>
              <a:buAutoNum type="arabicPeriod"/>
            </a:pPr>
            <a:r>
              <a:rPr lang="en-US" dirty="0"/>
              <a:t>Wash dishes.</a:t>
            </a:r>
          </a:p>
          <a:p>
            <a:pPr marL="742950" lvl="1" indent="-285750">
              <a:buFont typeface="+mj-lt"/>
              <a:buAutoNum type="arabicPeriod"/>
            </a:pPr>
            <a:r>
              <a:rPr lang="en-US" dirty="0"/>
              <a:t>Put away leftovers.</a:t>
            </a:r>
          </a:p>
          <a:p>
            <a:pPr marL="742950" lvl="1" indent="-285750">
              <a:buFont typeface="+mj-lt"/>
              <a:buAutoNum type="arabicPeriod"/>
            </a:pPr>
            <a:r>
              <a:rPr lang="en-US" dirty="0"/>
              <a:t>Clean kitchen surfaces.</a:t>
            </a:r>
          </a:p>
        </p:txBody>
      </p:sp>
    </p:spTree>
    <p:extLst>
      <p:ext uri="{BB962C8B-B14F-4D97-AF65-F5344CB8AC3E}">
        <p14:creationId xmlns:p14="http://schemas.microsoft.com/office/powerpoint/2010/main" val="2689217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76A35-6DDB-4AD8-8365-3747181C6758}"/>
              </a:ext>
            </a:extLst>
          </p:cNvPr>
          <p:cNvSpPr>
            <a:spLocks noGrp="1"/>
          </p:cNvSpPr>
          <p:nvPr>
            <p:ph type="title"/>
          </p:nvPr>
        </p:nvSpPr>
        <p:spPr/>
        <p:txBody>
          <a:bodyPr/>
          <a:lstStyle/>
          <a:p>
            <a:r>
              <a:rPr lang="en-US" b="1" dirty="0">
                <a:solidFill>
                  <a:srgbClr val="FF0000"/>
                </a:solidFill>
              </a:rPr>
              <a:t>Level 2 Decomposition: Deeper Dive into a Subproblem</a:t>
            </a:r>
            <a:br>
              <a:rPr lang="en-US" b="1" dirty="0"/>
            </a:br>
            <a:endParaRPr lang="en-US" dirty="0"/>
          </a:p>
        </p:txBody>
      </p:sp>
      <p:sp>
        <p:nvSpPr>
          <p:cNvPr id="3" name="Content Placeholder 2">
            <a:extLst>
              <a:ext uri="{FF2B5EF4-FFF2-40B4-BE49-F238E27FC236}">
                <a16:creationId xmlns:a16="http://schemas.microsoft.com/office/drawing/2014/main" id="{51F230FB-8E44-4585-8768-0C0E13CC0416}"/>
              </a:ext>
            </a:extLst>
          </p:cNvPr>
          <p:cNvSpPr>
            <a:spLocks noGrp="1"/>
          </p:cNvSpPr>
          <p:nvPr>
            <p:ph sz="half" idx="1"/>
          </p:nvPr>
        </p:nvSpPr>
        <p:spPr>
          <a:xfrm>
            <a:off x="0" y="2060575"/>
            <a:ext cx="6575612" cy="4676401"/>
          </a:xfrm>
        </p:spPr>
        <p:txBody>
          <a:bodyPr>
            <a:normAutofit fontScale="92500" lnSpcReduction="20000"/>
          </a:bodyPr>
          <a:lstStyle/>
          <a:p>
            <a:r>
              <a:rPr lang="en-US" sz="2400" dirty="0"/>
              <a:t>Let's take "Cooking the Main Course" from Level 1 and decompose it further. Suppose the main course is "Roast Chicken with Roasted Vegetables."</a:t>
            </a:r>
          </a:p>
          <a:p>
            <a:pPr marL="0" indent="0">
              <a:buNone/>
            </a:pPr>
            <a:r>
              <a:rPr lang="en-US" sz="2400" b="1" dirty="0"/>
              <a:t>1. Prepare the Roast Chicken:</a:t>
            </a:r>
            <a:r>
              <a:rPr lang="en-US" sz="2400" dirty="0"/>
              <a:t> </a:t>
            </a:r>
          </a:p>
          <a:p>
            <a:pPr marL="742950" lvl="1" indent="-285750">
              <a:buFont typeface="+mj-lt"/>
              <a:buAutoNum type="arabicPeriod"/>
            </a:pPr>
            <a:r>
              <a:rPr lang="en-US" sz="2000" dirty="0"/>
              <a:t>Preheat oven.</a:t>
            </a:r>
          </a:p>
          <a:p>
            <a:pPr marL="742950" lvl="1" indent="-285750">
              <a:buFont typeface="+mj-lt"/>
              <a:buAutoNum type="arabicPeriod"/>
            </a:pPr>
            <a:r>
              <a:rPr lang="en-US" sz="2000" dirty="0"/>
              <a:t>Season the chicken.</a:t>
            </a:r>
          </a:p>
          <a:p>
            <a:pPr marL="742950" lvl="1" indent="-285750">
              <a:buFont typeface="+mj-lt"/>
              <a:buAutoNum type="arabicPeriod"/>
            </a:pPr>
            <a:r>
              <a:rPr lang="en-US" sz="2000" dirty="0"/>
              <a:t>Stuff the chicken (if desired).</a:t>
            </a:r>
          </a:p>
          <a:p>
            <a:pPr marL="742950" lvl="1" indent="-285750">
              <a:buFont typeface="+mj-lt"/>
              <a:buAutoNum type="arabicPeriod"/>
            </a:pPr>
            <a:r>
              <a:rPr lang="en-US" sz="2000" dirty="0"/>
              <a:t>Place in roasting pan.</a:t>
            </a:r>
          </a:p>
          <a:p>
            <a:pPr marL="742950" lvl="1" indent="-285750">
              <a:buFont typeface="+mj-lt"/>
              <a:buAutoNum type="arabicPeriod"/>
            </a:pPr>
            <a:r>
              <a:rPr lang="en-US" sz="2000" dirty="0"/>
              <a:t>Roast for the specified time, basting occasionally.</a:t>
            </a:r>
          </a:p>
          <a:p>
            <a:pPr marL="742950" lvl="1" indent="-285750">
              <a:buFont typeface="+mj-lt"/>
              <a:buAutoNum type="arabicPeriod"/>
            </a:pPr>
            <a:r>
              <a:rPr lang="en-US" sz="2000" dirty="0"/>
              <a:t>Check internal temperature for doneness.</a:t>
            </a:r>
          </a:p>
          <a:p>
            <a:pPr marL="742950" lvl="1" indent="-285750">
              <a:buFont typeface="+mj-lt"/>
              <a:buAutoNum type="arabicPeriod"/>
            </a:pPr>
            <a:r>
              <a:rPr lang="en-US" sz="2000" dirty="0"/>
              <a:t>Rest the chicken before carving.</a:t>
            </a:r>
          </a:p>
          <a:p>
            <a:endParaRPr lang="en-US" sz="2400" dirty="0"/>
          </a:p>
        </p:txBody>
      </p:sp>
      <p:sp>
        <p:nvSpPr>
          <p:cNvPr id="4" name="Content Placeholder 3">
            <a:extLst>
              <a:ext uri="{FF2B5EF4-FFF2-40B4-BE49-F238E27FC236}">
                <a16:creationId xmlns:a16="http://schemas.microsoft.com/office/drawing/2014/main" id="{C7E47B33-6415-43BE-90F7-DDA8F4D979A1}"/>
              </a:ext>
            </a:extLst>
          </p:cNvPr>
          <p:cNvSpPr>
            <a:spLocks noGrp="1"/>
          </p:cNvSpPr>
          <p:nvPr>
            <p:ph sz="half" idx="2"/>
          </p:nvPr>
        </p:nvSpPr>
        <p:spPr>
          <a:xfrm>
            <a:off x="6777318" y="2056093"/>
            <a:ext cx="5271247" cy="4676401"/>
          </a:xfrm>
        </p:spPr>
        <p:txBody>
          <a:bodyPr>
            <a:normAutofit fontScale="92500" lnSpcReduction="20000"/>
          </a:bodyPr>
          <a:lstStyle/>
          <a:p>
            <a:pPr marL="0" indent="0">
              <a:buNone/>
            </a:pPr>
            <a:r>
              <a:rPr lang="en-US" sz="2200" b="1" dirty="0"/>
              <a:t>2. Prepare the Roasted Vegetables:</a:t>
            </a:r>
            <a:r>
              <a:rPr lang="en-US" sz="2200" dirty="0"/>
              <a:t> </a:t>
            </a:r>
          </a:p>
          <a:p>
            <a:pPr marL="742950" lvl="1" indent="-285750">
              <a:buFont typeface="+mj-lt"/>
              <a:buAutoNum type="arabicPeriod"/>
            </a:pPr>
            <a:r>
              <a:rPr lang="en-US" sz="2200" dirty="0"/>
              <a:t>Peel and chop vegetables (carrots, potatoes, onions).</a:t>
            </a:r>
          </a:p>
          <a:p>
            <a:pPr marL="742950" lvl="1" indent="-285750">
              <a:buFont typeface="+mj-lt"/>
              <a:buAutoNum type="arabicPeriod"/>
            </a:pPr>
            <a:r>
              <a:rPr lang="en-US" sz="2200" dirty="0"/>
              <a:t>Toss with olive oil, herbs, and spices.</a:t>
            </a:r>
          </a:p>
          <a:p>
            <a:pPr marL="742950" lvl="1" indent="-285750">
              <a:buFont typeface="+mj-lt"/>
              <a:buAutoNum type="arabicPeriod"/>
            </a:pPr>
            <a:r>
              <a:rPr lang="en-US" sz="2200" dirty="0"/>
              <a:t>Spread on a baking sheet.</a:t>
            </a:r>
          </a:p>
          <a:p>
            <a:pPr marL="742950" lvl="1" indent="-285750">
              <a:buFont typeface="+mj-lt"/>
              <a:buAutoNum type="arabicPeriod"/>
            </a:pPr>
            <a:r>
              <a:rPr lang="en-US" sz="2200" dirty="0"/>
              <a:t>Roast alongside chicken (or separately) until tender and caramelized.</a:t>
            </a:r>
          </a:p>
          <a:p>
            <a:endParaRPr lang="en-US" dirty="0"/>
          </a:p>
        </p:txBody>
      </p:sp>
    </p:spTree>
    <p:extLst>
      <p:ext uri="{BB962C8B-B14F-4D97-AF65-F5344CB8AC3E}">
        <p14:creationId xmlns:p14="http://schemas.microsoft.com/office/powerpoint/2010/main" val="3840129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8649E12-7484-472C-9831-ABD9C87D54B9}"/>
              </a:ext>
            </a:extLst>
          </p:cNvPr>
          <p:cNvSpPr>
            <a:spLocks noGrp="1"/>
          </p:cNvSpPr>
          <p:nvPr>
            <p:ph type="title"/>
          </p:nvPr>
        </p:nvSpPr>
        <p:spPr>
          <a:xfrm>
            <a:off x="1" y="416859"/>
            <a:ext cx="11214846" cy="1436389"/>
          </a:xfrm>
        </p:spPr>
        <p:txBody>
          <a:bodyPr/>
          <a:lstStyle/>
          <a:p>
            <a:r>
              <a:rPr lang="en-US" b="1" dirty="0"/>
              <a:t>Benefits of Decomposition in this Example:</a:t>
            </a:r>
            <a:br>
              <a:rPr lang="en-US" b="1" dirty="0"/>
            </a:br>
            <a:endParaRPr lang="en-US" dirty="0"/>
          </a:p>
        </p:txBody>
      </p:sp>
      <p:sp>
        <p:nvSpPr>
          <p:cNvPr id="6" name="Content Placeholder 5">
            <a:extLst>
              <a:ext uri="{FF2B5EF4-FFF2-40B4-BE49-F238E27FC236}">
                <a16:creationId xmlns:a16="http://schemas.microsoft.com/office/drawing/2014/main" id="{DF7BA559-E9F7-4D6C-A3DE-82D5FC3E3E47}"/>
              </a:ext>
            </a:extLst>
          </p:cNvPr>
          <p:cNvSpPr>
            <a:spLocks noGrp="1"/>
          </p:cNvSpPr>
          <p:nvPr>
            <p:ph idx="1"/>
          </p:nvPr>
        </p:nvSpPr>
        <p:spPr>
          <a:xfrm>
            <a:off x="268942" y="1653988"/>
            <a:ext cx="11793070" cy="5015753"/>
          </a:xfrm>
        </p:spPr>
        <p:txBody>
          <a:bodyPr>
            <a:normAutofit/>
          </a:bodyPr>
          <a:lstStyle/>
          <a:p>
            <a:pPr>
              <a:buFont typeface="Arial" panose="020B0604020202020204" pitchFamily="34" charset="0"/>
              <a:buChar char="•"/>
            </a:pPr>
            <a:r>
              <a:rPr lang="en-US" sz="2400" b="1" dirty="0"/>
              <a:t>Clarity:</a:t>
            </a:r>
            <a:r>
              <a:rPr lang="en-US" sz="2400" dirty="0"/>
              <a:t> Each step becomes clear and less daunting.</a:t>
            </a:r>
          </a:p>
          <a:p>
            <a:pPr>
              <a:buFont typeface="Arial" panose="020B0604020202020204" pitchFamily="34" charset="0"/>
              <a:buChar char="•"/>
            </a:pPr>
            <a:r>
              <a:rPr lang="en-US" sz="2400" b="1" dirty="0"/>
              <a:t>Parallelism:</a:t>
            </a:r>
            <a:r>
              <a:rPr lang="en-US" sz="2400" dirty="0"/>
              <a:t> Multiple people can work on different subproblems simultaneously (e.g., one person shops, another starts pre-prep).</a:t>
            </a:r>
          </a:p>
          <a:p>
            <a:pPr>
              <a:buFont typeface="Arial" panose="020B0604020202020204" pitchFamily="34" charset="0"/>
              <a:buChar char="•"/>
            </a:pPr>
            <a:r>
              <a:rPr lang="en-US" sz="2400" b="1" dirty="0"/>
              <a:t>Error Isolation:</a:t>
            </a:r>
            <a:r>
              <a:rPr lang="en-US" sz="2400" dirty="0"/>
              <a:t> If something goes wrong (e.g., ran out of an ingredient), it's easier to pinpoint the specific subproblem causing the issue and address it without disrupting the entire process.</a:t>
            </a:r>
          </a:p>
          <a:p>
            <a:pPr>
              <a:buFont typeface="Arial" panose="020B0604020202020204" pitchFamily="34" charset="0"/>
              <a:buChar char="•"/>
            </a:pPr>
            <a:r>
              <a:rPr lang="en-US" sz="2400" b="1" dirty="0"/>
              <a:t>Reusability:</a:t>
            </a:r>
            <a:r>
              <a:rPr lang="en-US" sz="2400" dirty="0"/>
              <a:t> The "Chop Vegetables" or "Preheat Oven" sub-tasks are common and can be reused in many different meal preparations.</a:t>
            </a:r>
          </a:p>
          <a:p>
            <a:r>
              <a:rPr lang="en-US" sz="2400" dirty="0"/>
              <a:t>By breaking down "Preparing a Meal" into these hierarchical subproblems, the overall task becomes much more manageable, efficient, and easier to execute successfully. This demonstrates how decomposition is fundamental to tackling complex challenges in a structured way.</a:t>
            </a:r>
          </a:p>
          <a:p>
            <a:endParaRPr lang="en-US" sz="2400" dirty="0"/>
          </a:p>
        </p:txBody>
      </p:sp>
    </p:spTree>
    <p:extLst>
      <p:ext uri="{BB962C8B-B14F-4D97-AF65-F5344CB8AC3E}">
        <p14:creationId xmlns:p14="http://schemas.microsoft.com/office/powerpoint/2010/main" val="2532823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CD19A-FD6D-49FD-B3F9-E0CE3DF01921}"/>
              </a:ext>
            </a:extLst>
          </p:cNvPr>
          <p:cNvSpPr>
            <a:spLocks noGrp="1"/>
          </p:cNvSpPr>
          <p:nvPr>
            <p:ph type="title" idx="4294967295"/>
          </p:nvPr>
        </p:nvSpPr>
        <p:spPr>
          <a:xfrm>
            <a:off x="0" y="403225"/>
            <a:ext cx="9713913" cy="1449388"/>
          </a:xfrm>
        </p:spPr>
        <p:txBody>
          <a:bodyPr/>
          <a:lstStyle/>
          <a:p>
            <a:r>
              <a:rPr lang="en-US" b="1" dirty="0">
                <a:solidFill>
                  <a:srgbClr val="FF0000"/>
                </a:solidFill>
              </a:rPr>
              <a:t>Practical Example: Preparing a Meal</a:t>
            </a:r>
            <a:br>
              <a:rPr lang="en-US" b="1" dirty="0"/>
            </a:br>
            <a:endParaRPr lang="en-US" dirty="0"/>
          </a:p>
        </p:txBody>
      </p:sp>
      <p:sp>
        <p:nvSpPr>
          <p:cNvPr id="3" name="Content Placeholder 2">
            <a:extLst>
              <a:ext uri="{FF2B5EF4-FFF2-40B4-BE49-F238E27FC236}">
                <a16:creationId xmlns:a16="http://schemas.microsoft.com/office/drawing/2014/main" id="{01896390-183F-4DBD-87FF-3095C6A2A344}"/>
              </a:ext>
            </a:extLst>
          </p:cNvPr>
          <p:cNvSpPr>
            <a:spLocks noGrp="1"/>
          </p:cNvSpPr>
          <p:nvPr>
            <p:ph idx="4294967295"/>
          </p:nvPr>
        </p:nvSpPr>
        <p:spPr>
          <a:xfrm>
            <a:off x="0" y="1747838"/>
            <a:ext cx="10906125" cy="4849812"/>
          </a:xfrm>
        </p:spPr>
        <p:txBody>
          <a:bodyPr>
            <a:normAutofit/>
          </a:bodyPr>
          <a:lstStyle/>
          <a:p>
            <a:r>
              <a:rPr lang="en-US" sz="3200" dirty="0"/>
              <a:t>Let's consider the complex task of "Preparing a Meal" for a dinner party. If we think about this as one monolithic task, it can seem overwhelming. However, by applying decomposition, we can break it down into smaller, more manageable parts:</a:t>
            </a:r>
          </a:p>
          <a:p>
            <a:endParaRPr lang="en-US" sz="3200" dirty="0"/>
          </a:p>
        </p:txBody>
      </p:sp>
    </p:spTree>
    <p:extLst>
      <p:ext uri="{BB962C8B-B14F-4D97-AF65-F5344CB8AC3E}">
        <p14:creationId xmlns:p14="http://schemas.microsoft.com/office/powerpoint/2010/main" val="2615457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3FF68-3D62-43A9-B9F7-12C0FAE7AAAA}"/>
              </a:ext>
            </a:extLst>
          </p:cNvPr>
          <p:cNvSpPr>
            <a:spLocks noGrp="1"/>
          </p:cNvSpPr>
          <p:nvPr>
            <p:ph type="title"/>
          </p:nvPr>
        </p:nvSpPr>
        <p:spPr/>
        <p:txBody>
          <a:bodyPr/>
          <a:lstStyle/>
          <a:p>
            <a:r>
              <a:rPr lang="en-US" b="1" dirty="0"/>
              <a:t>Python Program Example: A Simple Recipe</a:t>
            </a:r>
            <a:br>
              <a:rPr lang="en-US" b="1" dirty="0"/>
            </a:br>
            <a:endParaRPr lang="en-US" dirty="0"/>
          </a:p>
        </p:txBody>
      </p:sp>
      <p:sp>
        <p:nvSpPr>
          <p:cNvPr id="3" name="Content Placeholder 2">
            <a:extLst>
              <a:ext uri="{FF2B5EF4-FFF2-40B4-BE49-F238E27FC236}">
                <a16:creationId xmlns:a16="http://schemas.microsoft.com/office/drawing/2014/main" id="{7606F42D-4275-40FC-ACAD-4E81E1B47B61}"/>
              </a:ext>
            </a:extLst>
          </p:cNvPr>
          <p:cNvSpPr>
            <a:spLocks noGrp="1"/>
          </p:cNvSpPr>
          <p:nvPr>
            <p:ph idx="1"/>
          </p:nvPr>
        </p:nvSpPr>
        <p:spPr>
          <a:xfrm>
            <a:off x="268941" y="2070847"/>
            <a:ext cx="11685493" cy="4464424"/>
          </a:xfrm>
        </p:spPr>
        <p:txBody>
          <a:bodyPr>
            <a:normAutofit/>
          </a:bodyPr>
          <a:lstStyle/>
          <a:p>
            <a:r>
              <a:rPr lang="en-US" sz="2800" dirty="0"/>
              <a:t>In programming, decomposition is often achieved by creating functions. Each function handles a specific sub-problem. This makes the code modular, easier to read, and simpler to debug.</a:t>
            </a:r>
          </a:p>
          <a:p>
            <a:r>
              <a:rPr lang="en-US" sz="2800" dirty="0"/>
              <a:t>Let's apply this to a simple recipe for making a "Vegetable Stir-fry".</a:t>
            </a:r>
          </a:p>
          <a:p>
            <a:endParaRPr lang="en-US" sz="2800" dirty="0"/>
          </a:p>
          <a:p>
            <a:r>
              <a:rPr lang="en-US" sz="2800" dirty="0"/>
              <a:t>Turn to programming example on </a:t>
            </a:r>
            <a:r>
              <a:rPr lang="en-US" sz="2800" dirty="0" err="1"/>
              <a:t>thonny</a:t>
            </a:r>
            <a:r>
              <a:rPr lang="en-US" sz="2800" dirty="0"/>
              <a:t> IDE</a:t>
            </a:r>
          </a:p>
        </p:txBody>
      </p:sp>
    </p:spTree>
    <p:extLst>
      <p:ext uri="{BB962C8B-B14F-4D97-AF65-F5344CB8AC3E}">
        <p14:creationId xmlns:p14="http://schemas.microsoft.com/office/powerpoint/2010/main" val="445992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204AC77D-B6C3-4B8F-B4F3-DA5F81F96181}"/>
              </a:ext>
            </a:extLst>
          </p:cNvPr>
          <p:cNvSpPr>
            <a:spLocks noGrp="1" noChangeArrowheads="1"/>
          </p:cNvSpPr>
          <p:nvPr>
            <p:ph idx="1"/>
          </p:nvPr>
        </p:nvSpPr>
        <p:spPr bwMode="auto">
          <a:xfrm>
            <a:off x="457200" y="1011984"/>
            <a:ext cx="11065953"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0" i="0" u="none" strike="noStrike" cap="none" normalizeH="0" baseline="0" dirty="0">
                <a:ln>
                  <a:noFill/>
                </a:ln>
                <a:solidFill>
                  <a:schemeClr val="tx1"/>
                </a:solidFill>
                <a:effectLst/>
                <a:latin typeface="Arial" panose="020B0604020202020204" pitchFamily="34" charset="0"/>
              </a:rPr>
              <a:t>By decomposing the problem of "making a stir-fry" into smaller functions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0"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err="1">
                <a:ln>
                  <a:noFill/>
                </a:ln>
                <a:solidFill>
                  <a:schemeClr val="tx1"/>
                </a:solidFill>
                <a:effectLst/>
                <a:latin typeface="Arial Unicode MS"/>
              </a:rPr>
              <a:t>get_ingredients</a:t>
            </a:r>
            <a:r>
              <a:rPr kumimoji="0" lang="en-US" altLang="en-US" sz="32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latin typeface="Arial Unicode MS"/>
              </a:rPr>
              <a:t>chop_vegetables</a:t>
            </a:r>
            <a:r>
              <a:rPr kumimoji="0" lang="en-US" altLang="en-US" sz="32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latin typeface="Arial Unicode MS"/>
              </a:rPr>
              <a:t>cook_stir_fry</a:t>
            </a:r>
            <a:r>
              <a:rPr kumimoji="0" lang="en-US" altLang="en-US" sz="32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latin typeface="Arial Unicode MS"/>
              </a:rPr>
              <a:t>serve_dish</a:t>
            </a:r>
            <a:r>
              <a:rPr kumimoji="0" lang="en-US" altLang="en-US" sz="32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rPr>
              <a:t>the main </a:t>
            </a:r>
            <a:r>
              <a:rPr kumimoji="0" lang="en-US" altLang="en-US" sz="2400" b="0" i="0" u="none" strike="noStrike" cap="none" normalizeH="0" baseline="0" dirty="0" err="1">
                <a:ln>
                  <a:noFill/>
                </a:ln>
                <a:solidFill>
                  <a:schemeClr val="tx1"/>
                </a:solidFill>
                <a:effectLst/>
                <a:latin typeface="Arial Unicode MS"/>
              </a:rPr>
              <a:t>make_vegetable_stir_fry</a:t>
            </a:r>
            <a:r>
              <a:rPr kumimoji="0" lang="en-US" altLang="en-US" sz="3200" b="0" i="0" u="none" strike="noStrike" cap="none" normalizeH="0" baseline="0" dirty="0">
                <a:ln>
                  <a:noFill/>
                </a:ln>
                <a:solidFill>
                  <a:schemeClr val="tx1"/>
                </a:solidFill>
                <a:effectLst/>
              </a:rPr>
              <a:t> function becomes a simple, readable summary of the process.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rPr>
              <a:t>If a bug occurs (e.g., the vegetables are not chopped correctly), we know to look inside the </a:t>
            </a:r>
            <a:r>
              <a:rPr kumimoji="0" lang="en-US" altLang="en-US" sz="2400" b="0" i="0" u="none" strike="noStrike" cap="none" normalizeH="0" baseline="0" dirty="0" err="1">
                <a:ln>
                  <a:noFill/>
                </a:ln>
                <a:solidFill>
                  <a:schemeClr val="tx1"/>
                </a:solidFill>
                <a:effectLst/>
                <a:latin typeface="Arial Unicode MS"/>
              </a:rPr>
              <a:t>chop_vegetables</a:t>
            </a:r>
            <a:r>
              <a:rPr kumimoji="0" lang="en-US" altLang="en-US" sz="3200" b="0" i="0" u="none" strike="noStrike" cap="none" normalizeH="0" baseline="0" dirty="0">
                <a:ln>
                  <a:noFill/>
                </a:ln>
                <a:solidFill>
                  <a:schemeClr val="tx1"/>
                </a:solidFill>
                <a:effectLst/>
              </a:rPr>
              <a:t> function, making debugging much easier. </a:t>
            </a: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16114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D0960-7BC0-4FD9-9776-D75E29700645}"/>
              </a:ext>
            </a:extLst>
          </p:cNvPr>
          <p:cNvSpPr>
            <a:spLocks noGrp="1"/>
          </p:cNvSpPr>
          <p:nvPr>
            <p:ph type="title"/>
          </p:nvPr>
        </p:nvSpPr>
        <p:spPr/>
        <p:txBody>
          <a:bodyPr/>
          <a:lstStyle/>
          <a:p>
            <a:r>
              <a:rPr lang="en-US" b="1" dirty="0"/>
              <a:t>Pattern Recognition in Algorithmic Thinking</a:t>
            </a:r>
            <a:br>
              <a:rPr lang="en-US" b="1" dirty="0"/>
            </a:br>
            <a:endParaRPr lang="en-US" dirty="0"/>
          </a:p>
        </p:txBody>
      </p:sp>
      <p:sp>
        <p:nvSpPr>
          <p:cNvPr id="3" name="Content Placeholder 2">
            <a:extLst>
              <a:ext uri="{FF2B5EF4-FFF2-40B4-BE49-F238E27FC236}">
                <a16:creationId xmlns:a16="http://schemas.microsoft.com/office/drawing/2014/main" id="{0AA57E03-1B1F-409E-A544-03C86AC69899}"/>
              </a:ext>
            </a:extLst>
          </p:cNvPr>
          <p:cNvSpPr>
            <a:spLocks noGrp="1"/>
          </p:cNvSpPr>
          <p:nvPr>
            <p:ph idx="1"/>
          </p:nvPr>
        </p:nvSpPr>
        <p:spPr>
          <a:xfrm>
            <a:off x="295835" y="2017060"/>
            <a:ext cx="11779623" cy="4840940"/>
          </a:xfrm>
        </p:spPr>
        <p:txBody>
          <a:bodyPr>
            <a:normAutofit/>
          </a:bodyPr>
          <a:lstStyle/>
          <a:p>
            <a:r>
              <a:rPr lang="en-US" sz="3200" b="1" dirty="0">
                <a:latin typeface="Arial Rounded MT Bold" panose="020F0704030504030204" pitchFamily="34" charset="0"/>
              </a:rPr>
              <a:t>Introduction</a:t>
            </a:r>
          </a:p>
          <a:p>
            <a:r>
              <a:rPr lang="en-US" sz="3200" dirty="0">
                <a:latin typeface="Arial Rounded MT Bold" panose="020F0704030504030204" pitchFamily="34" charset="0"/>
              </a:rPr>
              <a:t>Pattern recognition is the process of identifying similarities, regularities, or patterns in data. This is a fundamental pillar of computational thinking and algorithmic problem-solving. By recognizing patterns, we can simplify complex problems, make predictions, and develop more efficient solutions.</a:t>
            </a:r>
          </a:p>
          <a:p>
            <a:endParaRPr lang="en-US" sz="3200" dirty="0">
              <a:latin typeface="Arial Rounded MT Bold" panose="020F0704030504030204" pitchFamily="34" charset="0"/>
            </a:endParaRPr>
          </a:p>
        </p:txBody>
      </p:sp>
    </p:spTree>
    <p:extLst>
      <p:ext uri="{BB962C8B-B14F-4D97-AF65-F5344CB8AC3E}">
        <p14:creationId xmlns:p14="http://schemas.microsoft.com/office/powerpoint/2010/main" val="2400457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3D7B6-1249-41DE-80A8-DF5C15012121}"/>
              </a:ext>
            </a:extLst>
          </p:cNvPr>
          <p:cNvSpPr>
            <a:spLocks noGrp="1"/>
          </p:cNvSpPr>
          <p:nvPr>
            <p:ph type="title"/>
          </p:nvPr>
        </p:nvSpPr>
        <p:spPr/>
        <p:txBody>
          <a:bodyPr/>
          <a:lstStyle/>
          <a:p>
            <a:r>
              <a:rPr lang="en-US" b="1" dirty="0"/>
              <a:t>Why Pattern Recognition Matters</a:t>
            </a:r>
            <a:endParaRPr lang="en-US" dirty="0"/>
          </a:p>
        </p:txBody>
      </p:sp>
      <p:sp>
        <p:nvSpPr>
          <p:cNvPr id="3" name="Content Placeholder 2">
            <a:extLst>
              <a:ext uri="{FF2B5EF4-FFF2-40B4-BE49-F238E27FC236}">
                <a16:creationId xmlns:a16="http://schemas.microsoft.com/office/drawing/2014/main" id="{0C836E4F-02B8-480C-AC1D-00A868357C89}"/>
              </a:ext>
            </a:extLst>
          </p:cNvPr>
          <p:cNvSpPr>
            <a:spLocks noGrp="1"/>
          </p:cNvSpPr>
          <p:nvPr>
            <p:ph idx="1"/>
          </p:nvPr>
        </p:nvSpPr>
        <p:spPr>
          <a:xfrm>
            <a:off x="215154" y="1492624"/>
            <a:ext cx="11793070" cy="5029200"/>
          </a:xfrm>
        </p:spPr>
        <p:txBody>
          <a:bodyPr>
            <a:normAutofit lnSpcReduction="10000"/>
          </a:bodyPr>
          <a:lstStyle/>
          <a:p>
            <a:r>
              <a:rPr lang="en-US" sz="2800" dirty="0"/>
              <a:t>Pattern recognition helps us:</a:t>
            </a:r>
          </a:p>
          <a:p>
            <a:pPr>
              <a:buFont typeface="Arial" panose="020B0604020202020204" pitchFamily="34" charset="0"/>
              <a:buChar char="•"/>
            </a:pPr>
            <a:r>
              <a:rPr lang="en-US" sz="2800" b="1" dirty="0"/>
              <a:t>Reduce complexity</a:t>
            </a:r>
            <a:r>
              <a:rPr lang="en-US" sz="2800" dirty="0"/>
              <a:t>: By identifying repeating elements, we can simplify problems</a:t>
            </a:r>
          </a:p>
          <a:p>
            <a:pPr>
              <a:buFont typeface="Arial" panose="020B0604020202020204" pitchFamily="34" charset="0"/>
              <a:buChar char="•"/>
            </a:pPr>
            <a:r>
              <a:rPr lang="en-US" sz="2800" b="1" dirty="0"/>
              <a:t>Predict outcomes</a:t>
            </a:r>
            <a:r>
              <a:rPr lang="en-US" sz="2800" dirty="0"/>
              <a:t>: Recognized patterns allow us to anticipate what comes next</a:t>
            </a:r>
          </a:p>
          <a:p>
            <a:pPr>
              <a:buFont typeface="Arial" panose="020B0604020202020204" pitchFamily="34" charset="0"/>
              <a:buChar char="•"/>
            </a:pPr>
            <a:r>
              <a:rPr lang="en-US" sz="2800" b="1" dirty="0"/>
              <a:t>Optimize solutions</a:t>
            </a:r>
            <a:r>
              <a:rPr lang="en-US" sz="2800" dirty="0"/>
              <a:t>: Finding patterns often reveals more efficient algorithms</a:t>
            </a:r>
          </a:p>
          <a:p>
            <a:pPr>
              <a:buFont typeface="Arial" panose="020B0604020202020204" pitchFamily="34" charset="0"/>
              <a:buChar char="•"/>
            </a:pPr>
            <a:r>
              <a:rPr lang="en-US" sz="2800" b="1" dirty="0"/>
              <a:t>Generalize solutions</a:t>
            </a:r>
            <a:r>
              <a:rPr lang="en-US" sz="2800" dirty="0"/>
              <a:t>: Patterns help us create solutions that work for multiple cases</a:t>
            </a:r>
          </a:p>
          <a:p>
            <a:pPr>
              <a:buFont typeface="Arial" panose="020B0604020202020204" pitchFamily="34" charset="0"/>
              <a:buChar char="•"/>
            </a:pPr>
            <a:r>
              <a:rPr lang="en-US" sz="2800" b="1" dirty="0"/>
              <a:t>Automate processes</a:t>
            </a:r>
            <a:r>
              <a:rPr lang="en-US" sz="2800" dirty="0"/>
              <a:t>: Recognizing patterns enables us to write code that handles various scenarios</a:t>
            </a:r>
          </a:p>
          <a:p>
            <a:endParaRPr lang="en-US" sz="2800" dirty="0"/>
          </a:p>
        </p:txBody>
      </p:sp>
    </p:spTree>
    <p:extLst>
      <p:ext uri="{BB962C8B-B14F-4D97-AF65-F5344CB8AC3E}">
        <p14:creationId xmlns:p14="http://schemas.microsoft.com/office/powerpoint/2010/main" val="399266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07892-966E-4B75-A3DE-AECA45AF1ADE}"/>
              </a:ext>
            </a:extLst>
          </p:cNvPr>
          <p:cNvSpPr>
            <a:spLocks noGrp="1"/>
          </p:cNvSpPr>
          <p:nvPr>
            <p:ph type="title"/>
          </p:nvPr>
        </p:nvSpPr>
        <p:spPr/>
        <p:txBody>
          <a:bodyPr/>
          <a:lstStyle/>
          <a:p>
            <a:r>
              <a:rPr lang="en-US" b="1" dirty="0"/>
              <a:t>Types of Patterns</a:t>
            </a:r>
            <a:br>
              <a:rPr lang="en-US" b="1" dirty="0"/>
            </a:br>
            <a:endParaRPr lang="en-US" dirty="0"/>
          </a:p>
        </p:txBody>
      </p:sp>
      <p:sp>
        <p:nvSpPr>
          <p:cNvPr id="3" name="Content Placeholder 2">
            <a:extLst>
              <a:ext uri="{FF2B5EF4-FFF2-40B4-BE49-F238E27FC236}">
                <a16:creationId xmlns:a16="http://schemas.microsoft.com/office/drawing/2014/main" id="{BA7E114F-5ACD-4E3A-8135-70B0887DA40E}"/>
              </a:ext>
            </a:extLst>
          </p:cNvPr>
          <p:cNvSpPr>
            <a:spLocks noGrp="1"/>
          </p:cNvSpPr>
          <p:nvPr>
            <p:ph idx="1"/>
          </p:nvPr>
        </p:nvSpPr>
        <p:spPr>
          <a:xfrm>
            <a:off x="1103312" y="2052918"/>
            <a:ext cx="9721570" cy="4199964"/>
          </a:xfrm>
        </p:spPr>
        <p:txBody>
          <a:bodyPr>
            <a:normAutofit fontScale="92500" lnSpcReduction="20000"/>
          </a:bodyPr>
          <a:lstStyle/>
          <a:p>
            <a:pPr marL="0" indent="0">
              <a:buNone/>
            </a:pPr>
            <a:r>
              <a:rPr lang="en-US" b="1" dirty="0"/>
              <a:t>1. Sequence Patterns</a:t>
            </a:r>
          </a:p>
          <a:p>
            <a:r>
              <a:rPr lang="en-US" dirty="0"/>
              <a:t>Patterns that follow a specific order or progression.</a:t>
            </a:r>
          </a:p>
          <a:p>
            <a:r>
              <a:rPr lang="en-US" dirty="0"/>
              <a:t>Lets check program example on </a:t>
            </a:r>
            <a:r>
              <a:rPr lang="en-US" dirty="0" err="1"/>
              <a:t>thonny</a:t>
            </a:r>
            <a:r>
              <a:rPr lang="en-US" dirty="0"/>
              <a:t> sequence.py</a:t>
            </a:r>
          </a:p>
          <a:p>
            <a:pPr marL="0" indent="0">
              <a:buNone/>
            </a:pPr>
            <a:r>
              <a:rPr lang="en-US" b="1" dirty="0"/>
              <a:t>2 . Structural Patterns</a:t>
            </a:r>
          </a:p>
          <a:p>
            <a:r>
              <a:rPr lang="en-US" dirty="0"/>
              <a:t>Patterns in how data is organized or structured.</a:t>
            </a:r>
          </a:p>
          <a:p>
            <a:r>
              <a:rPr lang="en-US" dirty="0"/>
              <a:t>Lets check program example on </a:t>
            </a:r>
            <a:r>
              <a:rPr lang="en-US" dirty="0" err="1"/>
              <a:t>thonny</a:t>
            </a:r>
            <a:r>
              <a:rPr lang="en-US" dirty="0"/>
              <a:t> structural.py</a:t>
            </a:r>
          </a:p>
          <a:p>
            <a:pPr marL="0" indent="0">
              <a:buNone/>
            </a:pPr>
            <a:r>
              <a:rPr lang="en-US" b="1" dirty="0"/>
              <a:t>3. Frequency Patterns</a:t>
            </a:r>
          </a:p>
          <a:p>
            <a:r>
              <a:rPr lang="en-US" dirty="0"/>
              <a:t>Patterns based on how often elements appear.</a:t>
            </a:r>
          </a:p>
          <a:p>
            <a:r>
              <a:rPr lang="en-US" dirty="0"/>
              <a:t>Lets check program example on </a:t>
            </a:r>
            <a:r>
              <a:rPr lang="en-US" dirty="0" err="1"/>
              <a:t>thonny</a:t>
            </a:r>
            <a:r>
              <a:rPr lang="en-US" dirty="0"/>
              <a:t> frquency.py</a:t>
            </a:r>
          </a:p>
          <a:p>
            <a:pPr marL="0" indent="0">
              <a:buNone/>
            </a:pPr>
            <a:r>
              <a:rPr lang="en-US" b="1" dirty="0"/>
              <a:t>4. Repetition Patterns</a:t>
            </a:r>
          </a:p>
          <a:p>
            <a:r>
              <a:rPr lang="en-US" dirty="0"/>
              <a:t>Identifying cycles and repeating elements.</a:t>
            </a:r>
          </a:p>
          <a:p>
            <a:endParaRPr lang="en-US" dirty="0"/>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2569139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53419-79E1-4F25-965C-9F659E4AC490}"/>
              </a:ext>
            </a:extLst>
          </p:cNvPr>
          <p:cNvSpPr>
            <a:spLocks noGrp="1"/>
          </p:cNvSpPr>
          <p:nvPr>
            <p:ph type="title"/>
          </p:nvPr>
        </p:nvSpPr>
        <p:spPr/>
        <p:txBody>
          <a:bodyPr/>
          <a:lstStyle/>
          <a:p>
            <a:pPr algn="ctr"/>
            <a:r>
              <a:rPr lang="en-US" sz="6600" b="1" dirty="0"/>
              <a:t>Abstraction</a:t>
            </a:r>
            <a:endParaRPr lang="en-US" sz="6600" dirty="0"/>
          </a:p>
        </p:txBody>
      </p:sp>
      <p:sp>
        <p:nvSpPr>
          <p:cNvPr id="3" name="Content Placeholder 2">
            <a:extLst>
              <a:ext uri="{FF2B5EF4-FFF2-40B4-BE49-F238E27FC236}">
                <a16:creationId xmlns:a16="http://schemas.microsoft.com/office/drawing/2014/main" id="{14D90BEC-DF18-4776-B1A5-08405568CE39}"/>
              </a:ext>
            </a:extLst>
          </p:cNvPr>
          <p:cNvSpPr>
            <a:spLocks noGrp="1"/>
          </p:cNvSpPr>
          <p:nvPr>
            <p:ph idx="1"/>
          </p:nvPr>
        </p:nvSpPr>
        <p:spPr>
          <a:xfrm>
            <a:off x="228600" y="1524000"/>
            <a:ext cx="11404600" cy="5334000"/>
          </a:xfrm>
        </p:spPr>
        <p:txBody>
          <a:bodyPr>
            <a:normAutofit/>
          </a:bodyPr>
          <a:lstStyle/>
          <a:p>
            <a:r>
              <a:rPr lang="en-US" sz="2800" dirty="0"/>
              <a:t>Abstraction is the process of hiding complex implementation details and showing only the essential features of the object. It's about simplifying a complex reality by modeling classes appropriate to the problem. This is a key step in algorithmic thinking, as it allows you to create a more general-purpose algorithm and focus on the bigger picture.</a:t>
            </a:r>
          </a:p>
          <a:p>
            <a:r>
              <a:rPr lang="en-US" sz="2800" dirty="0"/>
              <a:t>When you're abstracting a problem, you identify the essential features and ignore the irrelevant ones. You create a simplified model of the problem that captures the necessary characteristics.</a:t>
            </a:r>
          </a:p>
          <a:p>
            <a:endParaRPr lang="en-US" sz="2800" dirty="0"/>
          </a:p>
        </p:txBody>
      </p:sp>
    </p:spTree>
    <p:extLst>
      <p:ext uri="{BB962C8B-B14F-4D97-AF65-F5344CB8AC3E}">
        <p14:creationId xmlns:p14="http://schemas.microsoft.com/office/powerpoint/2010/main" val="2936678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A8EE7-4AA9-4101-A8B1-DF14F69A87F7}"/>
              </a:ext>
            </a:extLst>
          </p:cNvPr>
          <p:cNvSpPr>
            <a:spLocks noGrp="1"/>
          </p:cNvSpPr>
          <p:nvPr>
            <p:ph type="title"/>
          </p:nvPr>
        </p:nvSpPr>
        <p:spPr/>
        <p:txBody>
          <a:bodyPr/>
          <a:lstStyle/>
          <a:p>
            <a:r>
              <a:rPr lang="en-US" b="1" dirty="0"/>
              <a:t>Practical Example: Driving a Car</a:t>
            </a:r>
            <a:endParaRPr lang="en-US" dirty="0"/>
          </a:p>
        </p:txBody>
      </p:sp>
      <p:sp>
        <p:nvSpPr>
          <p:cNvPr id="3" name="Content Placeholder 2">
            <a:extLst>
              <a:ext uri="{FF2B5EF4-FFF2-40B4-BE49-F238E27FC236}">
                <a16:creationId xmlns:a16="http://schemas.microsoft.com/office/drawing/2014/main" id="{785967CD-5372-47C3-950F-382534F31A5D}"/>
              </a:ext>
            </a:extLst>
          </p:cNvPr>
          <p:cNvSpPr>
            <a:spLocks noGrp="1"/>
          </p:cNvSpPr>
          <p:nvPr>
            <p:ph idx="1"/>
          </p:nvPr>
        </p:nvSpPr>
        <p:spPr>
          <a:xfrm>
            <a:off x="215900" y="1270000"/>
            <a:ext cx="11658600" cy="5473700"/>
          </a:xfrm>
        </p:spPr>
        <p:txBody>
          <a:bodyPr>
            <a:normAutofit fontScale="92500"/>
          </a:bodyPr>
          <a:lstStyle/>
          <a:p>
            <a:pPr marL="0" indent="0">
              <a:buNone/>
            </a:pPr>
            <a:r>
              <a:rPr lang="en-US" sz="2800" dirty="0"/>
              <a:t>A perfect real-world example of abstraction is driving a car.</a:t>
            </a:r>
          </a:p>
          <a:p>
            <a:pPr marL="0" indent="0">
              <a:buNone/>
            </a:pPr>
            <a:r>
              <a:rPr lang="en-US" sz="2800" dirty="0"/>
              <a:t>To drive a car, you don't need to know how the engine works, how the transmission system shifts gears, or how the fuel injection system operates. The car's designers have hidden these complex details.</a:t>
            </a:r>
          </a:p>
          <a:p>
            <a:pPr marL="0" indent="0">
              <a:buNone/>
            </a:pPr>
            <a:r>
              <a:rPr lang="en-US" sz="2800" dirty="0"/>
              <a:t>Instead, you interact with a simplified interface:</a:t>
            </a:r>
          </a:p>
          <a:p>
            <a:pPr>
              <a:buFont typeface="Arial" panose="020B0604020202020204" pitchFamily="34" charset="0"/>
              <a:buChar char="•"/>
            </a:pPr>
            <a:r>
              <a:rPr lang="en-US" sz="2800" b="1" dirty="0"/>
              <a:t>Steering wheel:</a:t>
            </a:r>
            <a:r>
              <a:rPr lang="en-US" sz="2800" dirty="0"/>
              <a:t> to turn.</a:t>
            </a:r>
          </a:p>
          <a:p>
            <a:pPr>
              <a:buFont typeface="Arial" panose="020B0604020202020204" pitchFamily="34" charset="0"/>
              <a:buChar char="•"/>
            </a:pPr>
            <a:r>
              <a:rPr lang="en-US" sz="2800" b="1" dirty="0"/>
              <a:t>Accelerator pedal:</a:t>
            </a:r>
            <a:r>
              <a:rPr lang="en-US" sz="2800" dirty="0"/>
              <a:t> to go faster.</a:t>
            </a:r>
          </a:p>
          <a:p>
            <a:pPr>
              <a:buFont typeface="Arial" panose="020B0604020202020204" pitchFamily="34" charset="0"/>
              <a:buChar char="•"/>
            </a:pPr>
            <a:r>
              <a:rPr lang="en-US" sz="2800" b="1" dirty="0"/>
              <a:t>Brake pedal:</a:t>
            </a:r>
            <a:r>
              <a:rPr lang="en-US" sz="2800" dirty="0"/>
              <a:t> to slow down.</a:t>
            </a:r>
          </a:p>
          <a:p>
            <a:r>
              <a:rPr lang="en-US" sz="2800" dirty="0"/>
              <a:t>This abstraction allows you to use the car for its main purpose—transportation—without being an expert mechanic. You focus on the "what" (driving) rather than the "how" (the internal mechanics).</a:t>
            </a:r>
          </a:p>
          <a:p>
            <a:endParaRPr lang="en-US" sz="2800" dirty="0"/>
          </a:p>
        </p:txBody>
      </p:sp>
    </p:spTree>
    <p:extLst>
      <p:ext uri="{BB962C8B-B14F-4D97-AF65-F5344CB8AC3E}">
        <p14:creationId xmlns:p14="http://schemas.microsoft.com/office/powerpoint/2010/main" val="3452122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EF346-C986-4859-8CCF-F9FB9BB79B6F}"/>
              </a:ext>
            </a:extLst>
          </p:cNvPr>
          <p:cNvSpPr>
            <a:spLocks noGrp="1"/>
          </p:cNvSpPr>
          <p:nvPr>
            <p:ph type="title"/>
          </p:nvPr>
        </p:nvSpPr>
        <p:spPr>
          <a:xfrm>
            <a:off x="645130" y="452718"/>
            <a:ext cx="9404723" cy="817282"/>
          </a:xfrm>
        </p:spPr>
        <p:txBody>
          <a:bodyPr/>
          <a:lstStyle/>
          <a:p>
            <a:r>
              <a:rPr lang="en-US" sz="3600" b="1" dirty="0"/>
              <a:t>Python Program Example: A Car Class</a:t>
            </a:r>
            <a:endParaRPr lang="en-US" sz="3600" dirty="0"/>
          </a:p>
        </p:txBody>
      </p:sp>
      <p:sp>
        <p:nvSpPr>
          <p:cNvPr id="6" name="Rectangle 3">
            <a:extLst>
              <a:ext uri="{FF2B5EF4-FFF2-40B4-BE49-F238E27FC236}">
                <a16:creationId xmlns:a16="http://schemas.microsoft.com/office/drawing/2014/main" id="{2CDE4E2C-D24F-4AF5-A17A-93C3AA962750}"/>
              </a:ext>
            </a:extLst>
          </p:cNvPr>
          <p:cNvSpPr>
            <a:spLocks noGrp="1" noChangeArrowheads="1"/>
          </p:cNvSpPr>
          <p:nvPr>
            <p:ph idx="1"/>
          </p:nvPr>
        </p:nvSpPr>
        <p:spPr bwMode="auto">
          <a:xfrm>
            <a:off x="304800" y="2431007"/>
            <a:ext cx="11658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0" i="0" u="none" strike="noStrike" cap="none" normalizeH="0" baseline="-25000" dirty="0">
                <a:ln>
                  <a:noFill/>
                </a:ln>
                <a:solidFill>
                  <a:schemeClr val="tx1"/>
                </a:solidFill>
                <a:effectLst/>
                <a:latin typeface="Arial" panose="020B0604020202020204" pitchFamily="34" charset="0"/>
              </a:rPr>
              <a:t>In programming, we use abstraction to manage complexity.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0" i="0" u="none" strike="noStrike" cap="none" normalizeH="0" baseline="-25000" dirty="0">
                <a:ln>
                  <a:noFill/>
                </a:ln>
                <a:solidFill>
                  <a:schemeClr val="tx1"/>
                </a:solidFill>
                <a:effectLst/>
                <a:latin typeface="Arial" panose="020B0604020202020204" pitchFamily="34" charset="0"/>
              </a:rPr>
              <a:t>We create classes and objects that expose a simple interface to the user,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0" i="0" u="none" strike="noStrike" cap="none" normalizeH="0" baseline="-25000" dirty="0">
                <a:ln>
                  <a:noFill/>
                </a:ln>
                <a:solidFill>
                  <a:schemeClr val="tx1"/>
                </a:solidFill>
                <a:effectLst/>
                <a:latin typeface="Arial" panose="020B0604020202020204" pitchFamily="34" charset="0"/>
              </a:rPr>
              <a:t> while hiding the complex logic inside.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0" i="0" u="none" strike="noStrike" cap="none" normalizeH="0" baseline="-25000" dirty="0">
                <a:ln>
                  <a:noFill/>
                </a:ln>
                <a:solidFill>
                  <a:schemeClr val="tx1"/>
                </a:solidFill>
                <a:effectLst/>
                <a:latin typeface="Arial" panose="020B0604020202020204" pitchFamily="34" charset="0"/>
              </a:rPr>
              <a:t>Here is a Python example that models the car analogy.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0" i="0" u="none" strike="noStrike" cap="none" normalizeH="0" baseline="-25000" dirty="0">
                <a:ln>
                  <a:noFill/>
                </a:ln>
                <a:solidFill>
                  <a:schemeClr val="tx1"/>
                </a:solidFill>
                <a:effectLst/>
                <a:latin typeface="Arial" panose="020B0604020202020204" pitchFamily="34" charset="0"/>
              </a:rPr>
              <a:t>The </a:t>
            </a:r>
            <a:r>
              <a:rPr kumimoji="0" lang="en-US" altLang="en-US" sz="2400" b="0" i="0" u="none" strike="noStrike" cap="none" normalizeH="0" baseline="-25000" dirty="0">
                <a:ln>
                  <a:noFill/>
                </a:ln>
                <a:solidFill>
                  <a:schemeClr val="tx1"/>
                </a:solidFill>
                <a:effectLst/>
                <a:latin typeface="Arial Unicode MS"/>
              </a:rPr>
              <a:t>Car</a:t>
            </a:r>
            <a:r>
              <a:rPr kumimoji="0" lang="en-US" altLang="en-US" sz="3200" b="0" i="0" u="none" strike="noStrike" cap="none" normalizeH="0" baseline="-25000" dirty="0">
                <a:ln>
                  <a:noFill/>
                </a:ln>
                <a:solidFill>
                  <a:schemeClr val="tx1"/>
                </a:solidFill>
                <a:effectLst/>
              </a:rPr>
              <a:t> class is an abstraction. The driver (the person using the </a:t>
            </a:r>
            <a:r>
              <a:rPr kumimoji="0" lang="en-US" altLang="en-US" sz="2400" b="0" i="0" u="none" strike="noStrike" cap="none" normalizeH="0" baseline="-25000" dirty="0">
                <a:ln>
                  <a:noFill/>
                </a:ln>
                <a:solidFill>
                  <a:schemeClr val="tx1"/>
                </a:solidFill>
                <a:effectLst/>
                <a:latin typeface="Arial Unicode MS"/>
              </a:rPr>
              <a:t>Car</a:t>
            </a:r>
            <a:r>
              <a:rPr kumimoji="0" lang="en-US" altLang="en-US" sz="3200" b="0" i="0" u="none" strike="noStrike" cap="none" normalizeH="0" baseline="-25000" dirty="0">
                <a:ln>
                  <a:noFill/>
                </a:ln>
                <a:solidFill>
                  <a:schemeClr val="tx1"/>
                </a:solidFill>
                <a:effectLst/>
              </a:rPr>
              <a:t> object) only needs to know about </a:t>
            </a:r>
            <a:r>
              <a:rPr kumimoji="0" lang="en-US" altLang="en-US" sz="2400" b="0" i="0" u="none" strike="noStrike" cap="none" normalizeH="0" baseline="-25000" dirty="0">
                <a:ln>
                  <a:noFill/>
                </a:ln>
                <a:solidFill>
                  <a:schemeClr val="tx1"/>
                </a:solidFill>
                <a:effectLst/>
                <a:latin typeface="Arial Unicode MS"/>
              </a:rPr>
              <a:t>start()</a:t>
            </a:r>
            <a:r>
              <a:rPr kumimoji="0" lang="en-US" altLang="en-US" sz="3200" b="0" i="0" u="none" strike="noStrike" cap="none" normalizeH="0" baseline="-25000" dirty="0">
                <a:ln>
                  <a:noFill/>
                </a:ln>
                <a:solidFill>
                  <a:schemeClr val="tx1"/>
                </a:solidFill>
                <a:effectLst/>
              </a:rPr>
              <a:t>, </a:t>
            </a:r>
            <a:r>
              <a:rPr kumimoji="0" lang="en-US" altLang="en-US" sz="2400" b="0" i="0" u="none" strike="noStrike" cap="none" normalizeH="0" baseline="-25000" dirty="0">
                <a:ln>
                  <a:noFill/>
                </a:ln>
                <a:solidFill>
                  <a:schemeClr val="tx1"/>
                </a:solidFill>
                <a:effectLst/>
                <a:latin typeface="Arial Unicode MS"/>
              </a:rPr>
              <a:t>accelerate()</a:t>
            </a:r>
            <a:r>
              <a:rPr kumimoji="0" lang="en-US" altLang="en-US" sz="3200" b="0" i="0" u="none" strike="noStrike" cap="none" normalizeH="0" baseline="-25000" dirty="0">
                <a:ln>
                  <a:noFill/>
                </a:ln>
                <a:solidFill>
                  <a:schemeClr val="tx1"/>
                </a:solidFill>
                <a:effectLst/>
              </a:rPr>
              <a:t>, and </a:t>
            </a:r>
            <a:r>
              <a:rPr kumimoji="0" lang="en-US" altLang="en-US" sz="2400" b="0" i="0" u="none" strike="noStrike" cap="none" normalizeH="0" baseline="-25000" dirty="0">
                <a:ln>
                  <a:noFill/>
                </a:ln>
                <a:solidFill>
                  <a:schemeClr val="tx1"/>
                </a:solidFill>
                <a:effectLst/>
                <a:latin typeface="Arial Unicode MS"/>
              </a:rPr>
              <a:t>brake()</a:t>
            </a:r>
            <a:r>
              <a:rPr kumimoji="0" lang="en-US" altLang="en-US" sz="3200" b="0" i="0" u="none" strike="noStrike" cap="none" normalizeH="0" baseline="-2500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25000" dirty="0">
                <a:ln>
                  <a:noFill/>
                </a:ln>
                <a:solidFill>
                  <a:schemeClr val="tx1"/>
                </a:solidFill>
                <a:effectLst/>
              </a:rPr>
              <a:t>They don't need to know about the </a:t>
            </a:r>
            <a:r>
              <a:rPr kumimoji="0" lang="en-US" altLang="en-US" sz="2400" b="0" i="0" u="none" strike="noStrike" cap="none" normalizeH="0" baseline="-25000" dirty="0">
                <a:ln>
                  <a:noFill/>
                </a:ln>
                <a:solidFill>
                  <a:schemeClr val="tx1"/>
                </a:solidFill>
                <a:effectLst/>
                <a:latin typeface="Arial Unicode MS"/>
              </a:rPr>
              <a:t>_</a:t>
            </a:r>
            <a:r>
              <a:rPr kumimoji="0" lang="en-US" altLang="en-US" sz="2400" b="0" i="0" u="none" strike="noStrike" cap="none" normalizeH="0" baseline="-25000" dirty="0" err="1">
                <a:ln>
                  <a:noFill/>
                </a:ln>
                <a:solidFill>
                  <a:schemeClr val="tx1"/>
                </a:solidFill>
                <a:effectLst/>
                <a:latin typeface="Arial Unicode MS"/>
              </a:rPr>
              <a:t>check_fuel</a:t>
            </a:r>
            <a:r>
              <a:rPr kumimoji="0" lang="en-US" altLang="en-US" sz="2400" b="0" i="0" u="none" strike="noStrike" cap="none" normalizeH="0" baseline="-25000" dirty="0">
                <a:ln>
                  <a:noFill/>
                </a:ln>
                <a:solidFill>
                  <a:schemeClr val="tx1"/>
                </a:solidFill>
                <a:effectLst/>
                <a:latin typeface="Arial Unicode MS"/>
              </a:rPr>
              <a:t>()</a:t>
            </a:r>
            <a:r>
              <a:rPr kumimoji="0" lang="en-US" altLang="en-US" sz="3200" b="0" i="0" u="none" strike="noStrike" cap="none" normalizeH="0" baseline="-25000" dirty="0">
                <a:ln>
                  <a:noFill/>
                </a:ln>
                <a:solidFill>
                  <a:schemeClr val="tx1"/>
                </a:solidFill>
                <a:effectLst/>
              </a:rPr>
              <a:t>, </a:t>
            </a:r>
            <a:r>
              <a:rPr kumimoji="0" lang="en-US" altLang="en-US" sz="2400" b="0" i="0" u="none" strike="noStrike" cap="none" normalizeH="0" baseline="-25000" dirty="0">
                <a:ln>
                  <a:noFill/>
                </a:ln>
                <a:solidFill>
                  <a:schemeClr val="tx1"/>
                </a:solidFill>
                <a:effectLst/>
                <a:latin typeface="Arial Unicode MS"/>
              </a:rPr>
              <a:t>_</a:t>
            </a:r>
            <a:r>
              <a:rPr kumimoji="0" lang="en-US" altLang="en-US" sz="2400" b="0" i="0" u="none" strike="noStrike" cap="none" normalizeH="0" baseline="-25000" dirty="0" err="1">
                <a:ln>
                  <a:noFill/>
                </a:ln>
                <a:solidFill>
                  <a:schemeClr val="tx1"/>
                </a:solidFill>
                <a:effectLst/>
                <a:latin typeface="Arial Unicode MS"/>
              </a:rPr>
              <a:t>ignite_spark_plug</a:t>
            </a:r>
            <a:r>
              <a:rPr kumimoji="0" lang="en-US" altLang="en-US" sz="2400" b="0" i="0" u="none" strike="noStrike" cap="none" normalizeH="0" baseline="-25000" dirty="0">
                <a:ln>
                  <a:noFill/>
                </a:ln>
                <a:solidFill>
                  <a:schemeClr val="tx1"/>
                </a:solidFill>
                <a:effectLst/>
                <a:latin typeface="Arial Unicode MS"/>
              </a:rPr>
              <a:t>()</a:t>
            </a:r>
            <a:r>
              <a:rPr kumimoji="0" lang="en-US" altLang="en-US" sz="3200" b="0" i="0" u="none" strike="noStrike" cap="none" normalizeH="0" baseline="-25000" dirty="0">
                <a:ln>
                  <a:noFill/>
                </a:ln>
                <a:solidFill>
                  <a:schemeClr val="tx1"/>
                </a:solidFill>
                <a:effectLst/>
              </a:rPr>
              <a:t>, or </a:t>
            </a:r>
            <a:r>
              <a:rPr kumimoji="0" lang="en-US" altLang="en-US" sz="2400" b="0" i="0" u="none" strike="noStrike" cap="none" normalizeH="0" baseline="-25000" dirty="0">
                <a:ln>
                  <a:noFill/>
                </a:ln>
                <a:solidFill>
                  <a:schemeClr val="tx1"/>
                </a:solidFill>
                <a:effectLst/>
                <a:latin typeface="Arial Unicode MS"/>
              </a:rPr>
              <a:t>_</a:t>
            </a:r>
            <a:r>
              <a:rPr kumimoji="0" lang="en-US" altLang="en-US" sz="2400" b="0" i="0" u="none" strike="noStrike" cap="none" normalizeH="0" baseline="-25000" dirty="0" err="1">
                <a:ln>
                  <a:noFill/>
                </a:ln>
                <a:solidFill>
                  <a:schemeClr val="tx1"/>
                </a:solidFill>
                <a:effectLst/>
                <a:latin typeface="Arial Unicode MS"/>
              </a:rPr>
              <a:t>inject_fuel</a:t>
            </a:r>
            <a:r>
              <a:rPr kumimoji="0" lang="en-US" altLang="en-US" sz="2400" b="0" i="0" u="none" strike="noStrike" cap="none" normalizeH="0" baseline="-25000" dirty="0">
                <a:ln>
                  <a:noFill/>
                </a:ln>
                <a:solidFill>
                  <a:schemeClr val="tx1"/>
                </a:solidFill>
                <a:effectLst/>
                <a:latin typeface="Arial Unicode MS"/>
              </a:rPr>
              <a:t>()</a:t>
            </a:r>
            <a:r>
              <a:rPr kumimoji="0" lang="en-US" altLang="en-US" sz="3200" b="0" i="0" u="none" strike="noStrike" cap="none" normalizeH="0" baseline="-25000" dirty="0">
                <a:ln>
                  <a:noFill/>
                </a:ln>
                <a:solidFill>
                  <a:schemeClr val="tx1"/>
                </a:solidFill>
                <a:effectLst/>
              </a:rPr>
              <a:t> methods, which are hidden implementation details.</a:t>
            </a:r>
            <a:endParaRPr kumimoji="0" lang="en-US" altLang="en-US" sz="4800" b="0" i="0" u="none" strike="noStrike" cap="none" normalizeH="0" baseline="-2500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66819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951F6-96BF-4260-A76C-F16B4921C717}"/>
              </a:ext>
            </a:extLst>
          </p:cNvPr>
          <p:cNvSpPr>
            <a:spLocks noGrp="1"/>
          </p:cNvSpPr>
          <p:nvPr>
            <p:ph type="title"/>
          </p:nvPr>
        </p:nvSpPr>
        <p:spPr>
          <a:xfrm>
            <a:off x="646111" y="452718"/>
            <a:ext cx="9323389" cy="664882"/>
          </a:xfrm>
        </p:spPr>
        <p:txBody>
          <a:bodyPr/>
          <a:lstStyle/>
          <a:p>
            <a:r>
              <a:rPr kumimoji="0" lang="en-US" altLang="en-US" sz="4000" b="1" i="0" u="none" strike="noStrike" cap="none" normalizeH="0" baseline="0" dirty="0">
                <a:ln>
                  <a:noFill/>
                </a:ln>
                <a:solidFill>
                  <a:schemeClr val="tx1"/>
                </a:solidFill>
                <a:effectLst/>
                <a:latin typeface="Arial" panose="020B0604020202020204" pitchFamily="34" charset="0"/>
              </a:rPr>
              <a:t>Benefits of Abstraction in this Code:</a:t>
            </a:r>
            <a:br>
              <a:rPr kumimoji="0" lang="en-US" altLang="en-US" sz="4000" b="1" i="0" u="none" strike="noStrike" cap="none" normalizeH="0" baseline="0" dirty="0">
                <a:ln>
                  <a:noFill/>
                </a:ln>
                <a:solidFill>
                  <a:schemeClr val="tx1"/>
                </a:solidFill>
                <a:effectLst/>
                <a:latin typeface="Arial" panose="020B0604020202020204" pitchFamily="34" charset="0"/>
              </a:rPr>
            </a:br>
            <a:endParaRPr lang="en-US" sz="4000" dirty="0"/>
          </a:p>
        </p:txBody>
      </p:sp>
      <p:sp>
        <p:nvSpPr>
          <p:cNvPr id="4" name="Rectangle 1">
            <a:extLst>
              <a:ext uri="{FF2B5EF4-FFF2-40B4-BE49-F238E27FC236}">
                <a16:creationId xmlns:a16="http://schemas.microsoft.com/office/drawing/2014/main" id="{5A399D68-32F7-4B22-A866-F2D45DFF4E1A}"/>
              </a:ext>
            </a:extLst>
          </p:cNvPr>
          <p:cNvSpPr>
            <a:spLocks noGrp="1" noChangeArrowheads="1"/>
          </p:cNvSpPr>
          <p:nvPr>
            <p:ph idx="1"/>
          </p:nvPr>
        </p:nvSpPr>
        <p:spPr bwMode="auto">
          <a:xfrm>
            <a:off x="203200" y="1897986"/>
            <a:ext cx="10985500"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Simplicity:</a:t>
            </a:r>
            <a:r>
              <a:rPr kumimoji="0" lang="en-US" altLang="en-US" sz="2800" b="0" i="0" u="none" strike="noStrike" cap="none" normalizeH="0" baseline="0" dirty="0">
                <a:ln>
                  <a:noFill/>
                </a:ln>
                <a:solidFill>
                  <a:schemeClr val="tx1"/>
                </a:solidFill>
                <a:effectLst/>
                <a:latin typeface="Arial" panose="020B0604020202020204" pitchFamily="34" charset="0"/>
              </a:rPr>
              <a:t> The person using the </a:t>
            </a:r>
            <a:r>
              <a:rPr kumimoji="0" lang="en-US" altLang="en-US" sz="1200" b="0" i="0" u="none" strike="noStrike" cap="none" normalizeH="0" baseline="0" dirty="0">
                <a:ln>
                  <a:noFill/>
                </a:ln>
                <a:solidFill>
                  <a:schemeClr val="tx1"/>
                </a:solidFill>
                <a:effectLst/>
                <a:latin typeface="Arial Unicode MS"/>
              </a:rPr>
              <a:t>Car</a:t>
            </a:r>
            <a:r>
              <a:rPr kumimoji="0" lang="en-US" altLang="en-US" sz="1600" b="0" i="0" u="none" strike="noStrike" cap="none" normalizeH="0" baseline="0" dirty="0">
                <a:ln>
                  <a:noFill/>
                </a:ln>
                <a:solidFill>
                  <a:schemeClr val="tx1"/>
                </a:solidFill>
                <a:effectLst/>
              </a:rPr>
              <a:t> object doesn't need to understand the complex sequence of events required to start an engine.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rPr>
              <a:t>They just call </a:t>
            </a:r>
            <a:r>
              <a:rPr kumimoji="0" lang="en-US" altLang="en-US" sz="1200" b="0" i="0" u="none" strike="noStrike" cap="none" normalizeH="0" baseline="0" dirty="0" err="1">
                <a:ln>
                  <a:noFill/>
                </a:ln>
                <a:solidFill>
                  <a:schemeClr val="tx1"/>
                </a:solidFill>
                <a:effectLst/>
                <a:latin typeface="Arial Unicode MS"/>
              </a:rPr>
              <a:t>my_car.start</a:t>
            </a:r>
            <a:r>
              <a:rPr kumimoji="0" lang="en-US" altLang="en-US" sz="12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a:ln>
                  <a:noFill/>
                </a:ln>
                <a:solidFill>
                  <a:schemeClr val="tx1"/>
                </a:solidFill>
                <a:effectLst/>
              </a:rPr>
              <a:t>.</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Maintainability:</a:t>
            </a:r>
            <a:r>
              <a:rPr kumimoji="0" lang="en-US" altLang="en-US" sz="2800" b="0" i="0" u="none" strike="noStrike" cap="none" normalizeH="0" baseline="0" dirty="0">
                <a:ln>
                  <a:noFill/>
                </a:ln>
                <a:solidFill>
                  <a:schemeClr val="tx1"/>
                </a:solidFill>
                <a:effectLst/>
                <a:latin typeface="Arial" panose="020B0604020202020204" pitchFamily="34" charset="0"/>
              </a:rPr>
              <a:t> If we want to change how the engine works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chemeClr val="tx1"/>
                </a:solidFill>
                <a:effectLst/>
                <a:latin typeface="Arial" panose="020B0604020202020204" pitchFamily="34" charset="0"/>
              </a:rPr>
              <a:t>(e.g., make it more fuel-efficient by changing the </a:t>
            </a:r>
            <a:r>
              <a:rPr kumimoji="0" lang="en-US" altLang="en-US" sz="1200" b="0" i="0" u="none" strike="noStrike" cap="none" normalizeH="0" baseline="0" dirty="0">
                <a:ln>
                  <a:noFill/>
                </a:ln>
                <a:solidFill>
                  <a:schemeClr val="tx1"/>
                </a:solidFill>
                <a:effectLst/>
                <a:latin typeface="Arial Unicode MS"/>
              </a:rPr>
              <a:t>_</a:t>
            </a:r>
            <a:r>
              <a:rPr kumimoji="0" lang="en-US" altLang="en-US" sz="1200" b="0" i="0" u="none" strike="noStrike" cap="none" normalizeH="0" baseline="0" dirty="0" err="1">
                <a:ln>
                  <a:noFill/>
                </a:ln>
                <a:solidFill>
                  <a:schemeClr val="tx1"/>
                </a:solidFill>
                <a:effectLst/>
                <a:latin typeface="Arial Unicode MS"/>
              </a:rPr>
              <a:t>inject_fuel</a:t>
            </a:r>
            <a:r>
              <a:rPr kumimoji="0" lang="en-US" altLang="en-US" sz="1600" b="0" i="0" u="none" strike="noStrike" cap="none" normalizeH="0" baseline="0" dirty="0">
                <a:ln>
                  <a:noFill/>
                </a:ln>
                <a:solidFill>
                  <a:schemeClr val="tx1"/>
                </a:solidFill>
                <a:effectLst/>
              </a:rPr>
              <a:t> logic),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rPr>
              <a:t>we can do so without changing the way the driver interacts with the car. The public methods (</a:t>
            </a:r>
            <a:r>
              <a:rPr kumimoji="0" lang="en-US" altLang="en-US" sz="1200" b="0" i="0" u="none" strike="noStrike" cap="none" normalizeH="0" baseline="0" dirty="0">
                <a:ln>
                  <a:noFill/>
                </a:ln>
                <a:solidFill>
                  <a:schemeClr val="tx1"/>
                </a:solidFill>
                <a:effectLst/>
                <a:latin typeface="Arial Unicode MS"/>
              </a:rPr>
              <a:t>start</a:t>
            </a:r>
            <a:r>
              <a:rPr kumimoji="0" lang="en-US" altLang="en-US" sz="16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latin typeface="Arial Unicode MS"/>
              </a:rPr>
              <a:t>accelerate</a:t>
            </a:r>
            <a:r>
              <a:rPr kumimoji="0" lang="en-US" altLang="en-US" sz="1600" b="0" i="0" u="none" strike="noStrike" cap="none" normalizeH="0" baseline="0" dirty="0">
                <a:ln>
                  <a:noFill/>
                </a:ln>
                <a:solidFill>
                  <a:schemeClr val="tx1"/>
                </a:solidFill>
                <a:effectLst/>
              </a:rPr>
              <a:t>) remain the same.</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Reduces Complexity:</a:t>
            </a:r>
            <a:r>
              <a:rPr kumimoji="0" lang="en-US" altLang="en-US" sz="2800" b="0" i="0" u="none" strike="noStrike" cap="none" normalizeH="0" baseline="0" dirty="0">
                <a:ln>
                  <a:noFill/>
                </a:ln>
                <a:solidFill>
                  <a:schemeClr val="tx1"/>
                </a:solidFill>
                <a:effectLst/>
                <a:latin typeface="Arial" panose="020B0604020202020204" pitchFamily="34" charset="0"/>
              </a:rPr>
              <a:t> It hides the unnecessary details from the user,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allowing them to focus on their goal (driving the car).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01578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9A7C8-0950-4B24-BE91-0136DC614DE0}"/>
              </a:ext>
            </a:extLst>
          </p:cNvPr>
          <p:cNvSpPr>
            <a:spLocks noGrp="1"/>
          </p:cNvSpPr>
          <p:nvPr>
            <p:ph type="title"/>
          </p:nvPr>
        </p:nvSpPr>
        <p:spPr>
          <a:xfrm>
            <a:off x="646111" y="452718"/>
            <a:ext cx="9056689" cy="766482"/>
          </a:xfrm>
        </p:spPr>
        <p:txBody>
          <a:bodyPr/>
          <a:lstStyle/>
          <a:p>
            <a:r>
              <a:rPr lang="en-US" b="1" dirty="0"/>
              <a:t>Algorithm Design</a:t>
            </a:r>
            <a:endParaRPr lang="en-US" dirty="0"/>
          </a:p>
        </p:txBody>
      </p:sp>
      <p:sp>
        <p:nvSpPr>
          <p:cNvPr id="3" name="Content Placeholder 2">
            <a:extLst>
              <a:ext uri="{FF2B5EF4-FFF2-40B4-BE49-F238E27FC236}">
                <a16:creationId xmlns:a16="http://schemas.microsoft.com/office/drawing/2014/main" id="{539E00E4-71EE-4215-809C-DC87AAF74B51}"/>
              </a:ext>
            </a:extLst>
          </p:cNvPr>
          <p:cNvSpPr>
            <a:spLocks noGrp="1"/>
          </p:cNvSpPr>
          <p:nvPr>
            <p:ph idx="1"/>
          </p:nvPr>
        </p:nvSpPr>
        <p:spPr>
          <a:xfrm>
            <a:off x="0" y="1219200"/>
            <a:ext cx="11925300" cy="5638800"/>
          </a:xfrm>
        </p:spPr>
        <p:txBody>
          <a:bodyPr>
            <a:normAutofit/>
          </a:bodyPr>
          <a:lstStyle/>
          <a:p>
            <a:pPr marL="0" indent="0">
              <a:buNone/>
            </a:pPr>
            <a:r>
              <a:rPr lang="en-US" sz="2800" dirty="0"/>
              <a:t>Algorithm design is the process of creating a step-by-step set of instructions for solving a problem. This is the final step in algorithmic thinking, and it's where you'll bring together all of the skills you've learned in this section.</a:t>
            </a:r>
          </a:p>
          <a:p>
            <a:pPr marL="0" indent="0">
              <a:buNone/>
            </a:pPr>
            <a:r>
              <a:rPr lang="en-US" sz="2800" dirty="0"/>
              <a:t>When you're designing an algorithm, it's important to be clear, concise, and unambiguous. You should also consider the efficiency of your algorithm and how it will perform on different types of data.</a:t>
            </a:r>
          </a:p>
          <a:p>
            <a:pPr marL="0" indent="0">
              <a:buNone/>
            </a:pPr>
            <a:r>
              <a:rPr lang="en-US" sz="2800" dirty="0"/>
              <a:t>Once you've designed an algorithm, you can test it to make sure that it's correct and that it meets all of the requirements of the problem.</a:t>
            </a:r>
          </a:p>
          <a:p>
            <a:endParaRPr lang="en-US" sz="2800" dirty="0"/>
          </a:p>
        </p:txBody>
      </p:sp>
    </p:spTree>
    <p:extLst>
      <p:ext uri="{BB962C8B-B14F-4D97-AF65-F5344CB8AC3E}">
        <p14:creationId xmlns:p14="http://schemas.microsoft.com/office/powerpoint/2010/main" val="30627903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1937</TotalTime>
  <Words>1996</Words>
  <Application>Microsoft Office PowerPoint</Application>
  <PresentationFormat>Widescreen</PresentationFormat>
  <Paragraphs>151</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Algerian</vt:lpstr>
      <vt:lpstr>Arial</vt:lpstr>
      <vt:lpstr>Arial Rounded MT Bold</vt:lpstr>
      <vt:lpstr>Arial Unicode MS</vt:lpstr>
      <vt:lpstr>Century Gothic</vt:lpstr>
      <vt:lpstr>Wingdings 3</vt:lpstr>
      <vt:lpstr>Ion</vt:lpstr>
      <vt:lpstr>Algorithm &amp; Data Structure</vt:lpstr>
      <vt:lpstr>What is an Algorithm?</vt:lpstr>
      <vt:lpstr>An Example of an Algorithm</vt:lpstr>
      <vt:lpstr>Why are Algorithms Important?</vt:lpstr>
      <vt:lpstr>Introduction to Algorithmic Thinking</vt:lpstr>
      <vt:lpstr>Decomposition</vt:lpstr>
      <vt:lpstr>Level 1 Decomposition: Main Stages of Meal Preparation </vt:lpstr>
      <vt:lpstr>Level 2 Decomposition: Deeper Dive into a Subproblem </vt:lpstr>
      <vt:lpstr>Benefits of Decomposition in this Example: </vt:lpstr>
      <vt:lpstr>Practical Example: Preparing a Meal </vt:lpstr>
      <vt:lpstr>Python Program Example: A Simple Recipe </vt:lpstr>
      <vt:lpstr>PowerPoint Presentation</vt:lpstr>
      <vt:lpstr>Pattern Recognition in Algorithmic Thinking </vt:lpstr>
      <vt:lpstr>Why Pattern Recognition Matters</vt:lpstr>
      <vt:lpstr>Types of Patterns </vt:lpstr>
      <vt:lpstr>Abstraction</vt:lpstr>
      <vt:lpstr>Practical Example: Driving a Car</vt:lpstr>
      <vt:lpstr>Python Program Example: A Car Class</vt:lpstr>
      <vt:lpstr>Benefits of Abstraction in this Code: </vt:lpstr>
      <vt:lpstr>Algorithm Design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 &amp; Data Structure</dc:title>
  <dc:creator>famodun Gbenga</dc:creator>
  <cp:lastModifiedBy>famodun Gbenga</cp:lastModifiedBy>
  <cp:revision>13</cp:revision>
  <dcterms:created xsi:type="dcterms:W3CDTF">2026-04-27T12:36:25Z</dcterms:created>
  <dcterms:modified xsi:type="dcterms:W3CDTF">2026-05-12T11:31:21Z</dcterms:modified>
</cp:coreProperties>
</file>