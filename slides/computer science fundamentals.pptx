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8"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916468-6D5E-41DA-A38D-A72DF324B363}"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514481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916468-6D5E-41DA-A38D-A72DF324B363}"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2502813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916468-6D5E-41DA-A38D-A72DF324B363}"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514264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916468-6D5E-41DA-A38D-A72DF324B363}"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3540322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916468-6D5E-41DA-A38D-A72DF324B363}"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1715562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916468-6D5E-41DA-A38D-A72DF324B363}"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2090207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916468-6D5E-41DA-A38D-A72DF324B363}"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3143993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16468-6D5E-41DA-A38D-A72DF324B363}"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2622393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16468-6D5E-41DA-A38D-A72DF324B363}"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1579040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16468-6D5E-41DA-A38D-A72DF324B363}"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1142492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16468-6D5E-41DA-A38D-A72DF324B363}"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2703698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16468-6D5E-41DA-A38D-A72DF324B363}"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081753-1FF8-4A33-883E-1DF2D592A9F9}"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76628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16468-6D5E-41DA-A38D-A72DF324B363}"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36815415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D916468-6D5E-41DA-A38D-A72DF324B363}"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39626864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D916468-6D5E-41DA-A38D-A72DF324B363}"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3083146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916468-6D5E-41DA-A38D-A72DF324B363}"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26091009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916468-6D5E-41DA-A38D-A72DF324B363}"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81753-1FF8-4A33-883E-1DF2D592A9F9}" type="slidenum">
              <a:rPr lang="en-US" smtClean="0"/>
              <a:t>‹#›</a:t>
            </a:fld>
            <a:endParaRPr lang="en-US"/>
          </a:p>
        </p:txBody>
      </p:sp>
    </p:spTree>
    <p:extLst>
      <p:ext uri="{BB962C8B-B14F-4D97-AF65-F5344CB8AC3E}">
        <p14:creationId xmlns:p14="http://schemas.microsoft.com/office/powerpoint/2010/main" val="2527285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D916468-6D5E-41DA-A38D-A72DF324B363}" type="datetimeFigureOut">
              <a:rPr lang="en-US" smtClean="0"/>
              <a:t>4/27/2026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2081753-1FF8-4A33-883E-1DF2D592A9F9}" type="slidenum">
              <a:rPr lang="en-US" smtClean="0"/>
              <a:t>‹#›</a:t>
            </a:fld>
            <a:endParaRPr lang="en-US"/>
          </a:p>
        </p:txBody>
      </p:sp>
    </p:spTree>
    <p:extLst>
      <p:ext uri="{BB962C8B-B14F-4D97-AF65-F5344CB8AC3E}">
        <p14:creationId xmlns:p14="http://schemas.microsoft.com/office/powerpoint/2010/main" val="403267047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4D72-AC6B-4E55-9DDF-66E15CD91E85}"/>
              </a:ext>
            </a:extLst>
          </p:cNvPr>
          <p:cNvSpPr>
            <a:spLocks noGrp="1"/>
          </p:cNvSpPr>
          <p:nvPr>
            <p:ph type="ctrTitle"/>
          </p:nvPr>
        </p:nvSpPr>
        <p:spPr>
          <a:xfrm>
            <a:off x="1595269" y="1939636"/>
            <a:ext cx="10014840" cy="2396837"/>
          </a:xfrm>
        </p:spPr>
        <p:txBody>
          <a:bodyPr>
            <a:normAutofit/>
          </a:bodyPr>
          <a:lstStyle/>
          <a:p>
            <a:r>
              <a:rPr lang="en-US" dirty="0">
                <a:solidFill>
                  <a:schemeClr val="accent1"/>
                </a:solidFill>
              </a:rPr>
              <a:t>computer science fundamentals</a:t>
            </a:r>
          </a:p>
        </p:txBody>
      </p:sp>
      <p:sp>
        <p:nvSpPr>
          <p:cNvPr id="3" name="Subtitle 2">
            <a:extLst>
              <a:ext uri="{FF2B5EF4-FFF2-40B4-BE49-F238E27FC236}">
                <a16:creationId xmlns:a16="http://schemas.microsoft.com/office/drawing/2014/main" id="{DDC6BE43-F675-4FC0-B752-4D5996D17B36}"/>
              </a:ext>
            </a:extLst>
          </p:cNvPr>
          <p:cNvSpPr>
            <a:spLocks noGrp="1"/>
          </p:cNvSpPr>
          <p:nvPr>
            <p:ph type="subTitle" idx="1"/>
          </p:nvPr>
        </p:nvSpPr>
        <p:spPr/>
        <p:txBody>
          <a:bodyPr/>
          <a:lstStyle/>
          <a:p>
            <a:pPr algn="l"/>
            <a:endParaRPr lang="en-US" dirty="0"/>
          </a:p>
          <a:p>
            <a:pPr algn="l"/>
            <a:endParaRPr lang="en-US" dirty="0"/>
          </a:p>
          <a:p>
            <a:pPr algn="l"/>
            <a:endParaRPr lang="en-US" dirty="0"/>
          </a:p>
        </p:txBody>
      </p:sp>
    </p:spTree>
    <p:extLst>
      <p:ext uri="{BB962C8B-B14F-4D97-AF65-F5344CB8AC3E}">
        <p14:creationId xmlns:p14="http://schemas.microsoft.com/office/powerpoint/2010/main" val="338714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25095-69D7-4329-B177-543335E6DA1E}"/>
              </a:ext>
            </a:extLst>
          </p:cNvPr>
          <p:cNvSpPr>
            <a:spLocks noGrp="1"/>
          </p:cNvSpPr>
          <p:nvPr>
            <p:ph type="ctrTitle"/>
          </p:nvPr>
        </p:nvSpPr>
        <p:spPr/>
        <p:txBody>
          <a:bodyPr/>
          <a:lstStyle/>
          <a:p>
            <a:r>
              <a:rPr lang="en-US" dirty="0">
                <a:solidFill>
                  <a:schemeClr val="accent1"/>
                </a:solidFill>
              </a:rPr>
              <a:t>Sub topics</a:t>
            </a:r>
            <a:br>
              <a:rPr lang="en-US" dirty="0"/>
            </a:br>
            <a:endParaRPr lang="en-US" dirty="0"/>
          </a:p>
        </p:txBody>
      </p:sp>
      <p:sp>
        <p:nvSpPr>
          <p:cNvPr id="3" name="Subtitle 2">
            <a:extLst>
              <a:ext uri="{FF2B5EF4-FFF2-40B4-BE49-F238E27FC236}">
                <a16:creationId xmlns:a16="http://schemas.microsoft.com/office/drawing/2014/main" id="{3A9F7F9C-7663-42C8-B032-AB3066EA0D80}"/>
              </a:ext>
            </a:extLst>
          </p:cNvPr>
          <p:cNvSpPr>
            <a:spLocks noGrp="1"/>
          </p:cNvSpPr>
          <p:nvPr>
            <p:ph type="subTitle" idx="1"/>
          </p:nvPr>
        </p:nvSpPr>
        <p:spPr/>
        <p:txBody>
          <a:bodyPr>
            <a:normAutofit lnSpcReduction="10000"/>
          </a:bodyPr>
          <a:lstStyle/>
          <a:p>
            <a:pPr marL="342900" indent="-342900" algn="l">
              <a:buFont typeface="Arial" panose="020B0604020202020204" pitchFamily="34" charset="0"/>
              <a:buChar char="•"/>
            </a:pPr>
            <a:r>
              <a:rPr lang="en-US" dirty="0"/>
              <a:t>Introduction to Computer science </a:t>
            </a:r>
          </a:p>
          <a:p>
            <a:pPr marL="342900" indent="-342900" algn="l">
              <a:buFont typeface="Arial" panose="020B0604020202020204" pitchFamily="34" charset="0"/>
              <a:buChar char="•"/>
            </a:pPr>
            <a:r>
              <a:rPr lang="en-US" dirty="0"/>
              <a:t>Algorithms &amp; Data structure</a:t>
            </a:r>
          </a:p>
          <a:p>
            <a:pPr marL="342900" indent="-342900" algn="l">
              <a:buFont typeface="Arial" panose="020B0604020202020204" pitchFamily="34" charset="0"/>
              <a:buChar char="•"/>
            </a:pPr>
            <a:r>
              <a:rPr lang="en-US" dirty="0"/>
              <a:t>Time &amp; Space complexity(Big O)</a:t>
            </a:r>
          </a:p>
          <a:p>
            <a:pPr algn="l"/>
            <a:endParaRPr lang="en-US" dirty="0"/>
          </a:p>
        </p:txBody>
      </p:sp>
    </p:spTree>
    <p:extLst>
      <p:ext uri="{BB962C8B-B14F-4D97-AF65-F5344CB8AC3E}">
        <p14:creationId xmlns:p14="http://schemas.microsoft.com/office/powerpoint/2010/main" val="3689577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F8140-A104-494A-8375-1675AC5C2AEA}"/>
              </a:ext>
            </a:extLst>
          </p:cNvPr>
          <p:cNvSpPr>
            <a:spLocks noGrp="1"/>
          </p:cNvSpPr>
          <p:nvPr>
            <p:ph type="title"/>
          </p:nvPr>
        </p:nvSpPr>
        <p:spPr>
          <a:xfrm>
            <a:off x="919119" y="609600"/>
            <a:ext cx="10353761" cy="1326321"/>
          </a:xfrm>
        </p:spPr>
        <p:txBody>
          <a:bodyPr/>
          <a:lstStyle/>
          <a:p>
            <a:r>
              <a:rPr lang="en-US" b="1" dirty="0">
                <a:solidFill>
                  <a:schemeClr val="accent1"/>
                </a:solidFill>
              </a:rPr>
              <a:t>Introduction to Computer Science</a:t>
            </a:r>
            <a:br>
              <a:rPr lang="en-US" b="1" dirty="0">
                <a:solidFill>
                  <a:schemeClr val="accent1"/>
                </a:solidFill>
              </a:rPr>
            </a:br>
            <a:endParaRPr lang="en-US" dirty="0">
              <a:solidFill>
                <a:schemeClr val="accent1"/>
              </a:solidFill>
            </a:endParaRPr>
          </a:p>
        </p:txBody>
      </p:sp>
      <p:sp>
        <p:nvSpPr>
          <p:cNvPr id="3" name="Content Placeholder 2">
            <a:extLst>
              <a:ext uri="{FF2B5EF4-FFF2-40B4-BE49-F238E27FC236}">
                <a16:creationId xmlns:a16="http://schemas.microsoft.com/office/drawing/2014/main" id="{851DA3C8-5E26-4CF0-A8F0-E098806B117C}"/>
              </a:ext>
            </a:extLst>
          </p:cNvPr>
          <p:cNvSpPr>
            <a:spLocks noGrp="1"/>
          </p:cNvSpPr>
          <p:nvPr>
            <p:ph idx="1"/>
          </p:nvPr>
        </p:nvSpPr>
        <p:spPr>
          <a:xfrm>
            <a:off x="96983" y="1015049"/>
            <a:ext cx="12095017" cy="5597235"/>
          </a:xfrm>
        </p:spPr>
        <p:txBody>
          <a:bodyPr>
            <a:normAutofit/>
          </a:bodyPr>
          <a:lstStyle/>
          <a:p>
            <a:pPr marL="0" indent="0">
              <a:buNone/>
            </a:pPr>
            <a:endParaRPr lang="en-US" b="1" dirty="0"/>
          </a:p>
          <a:p>
            <a:pPr marL="0" indent="0" algn="ctr">
              <a:buNone/>
            </a:pPr>
            <a:r>
              <a:rPr lang="en-US" sz="2800" b="1" dirty="0">
                <a:solidFill>
                  <a:schemeClr val="accent1"/>
                </a:solidFill>
              </a:rPr>
              <a:t>What is Computer Science?</a:t>
            </a:r>
            <a:endParaRPr lang="en-US" sz="2800" dirty="0">
              <a:solidFill>
                <a:schemeClr val="accent1"/>
              </a:solidFill>
            </a:endParaRPr>
          </a:p>
          <a:p>
            <a:r>
              <a:rPr lang="en-US" sz="2400" dirty="0"/>
              <a:t>Computer science is the study of computers and computational systems. Unlike electrical and computer engineers, computer scientists deal mostly with software and software systems; this includes their theory, design, development, and application.</a:t>
            </a:r>
          </a:p>
          <a:p>
            <a:r>
              <a:rPr lang="en-US" sz="2400" dirty="0"/>
              <a:t>Principal areas of study within computer science include artificial intelligence, computer systems and networks, security, database systems, human-computer interaction, vision and graphics, numerical analysis, programming languages, software engineering, bioinformatics, and theory of computing.</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4161446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DCE1-F775-4F41-B9ED-AC5BECC00CFA}"/>
              </a:ext>
            </a:extLst>
          </p:cNvPr>
          <p:cNvSpPr>
            <a:spLocks noGrp="1"/>
          </p:cNvSpPr>
          <p:nvPr>
            <p:ph type="title"/>
          </p:nvPr>
        </p:nvSpPr>
        <p:spPr/>
        <p:txBody>
          <a:bodyPr/>
          <a:lstStyle/>
          <a:p>
            <a:r>
              <a:rPr lang="en-US" b="1" dirty="0">
                <a:solidFill>
                  <a:schemeClr val="accent1"/>
                </a:solidFill>
              </a:rPr>
              <a:t>Misconceptions about Computer Science</a:t>
            </a:r>
            <a:endParaRPr lang="en-US" dirty="0">
              <a:solidFill>
                <a:schemeClr val="accent1"/>
              </a:solidFill>
            </a:endParaRPr>
          </a:p>
        </p:txBody>
      </p:sp>
      <p:sp>
        <p:nvSpPr>
          <p:cNvPr id="3" name="Content Placeholder 2">
            <a:extLst>
              <a:ext uri="{FF2B5EF4-FFF2-40B4-BE49-F238E27FC236}">
                <a16:creationId xmlns:a16="http://schemas.microsoft.com/office/drawing/2014/main" id="{9B782337-0EAF-4595-9023-2E91A985D8DB}"/>
              </a:ext>
            </a:extLst>
          </p:cNvPr>
          <p:cNvSpPr>
            <a:spLocks noGrp="1"/>
          </p:cNvSpPr>
          <p:nvPr>
            <p:ph idx="1"/>
          </p:nvPr>
        </p:nvSpPr>
        <p:spPr>
          <a:xfrm>
            <a:off x="0" y="1935921"/>
            <a:ext cx="12192000" cy="4769679"/>
          </a:xfrm>
        </p:spPr>
        <p:txBody>
          <a:bodyPr>
            <a:normAutofit fontScale="92500" lnSpcReduction="20000"/>
          </a:bodyPr>
          <a:lstStyle/>
          <a:p>
            <a:r>
              <a:rPr lang="en-US" sz="2800" dirty="0"/>
              <a:t>A common misconception is that computer science is all about programming. While programming is an essential tool for a computer scientist, it is only a means to an end. Computer scientists use programming to create solutions to problems, but the core of the discipline is about problem-solving, logical thinking, and understanding the capabilities and limitations of computation.</a:t>
            </a:r>
          </a:p>
          <a:p>
            <a:r>
              <a:rPr lang="en-US" sz="2800" dirty="0"/>
              <a:t>To put it another way, a computer scientist is like an architect who designs a building. The architect needs to understand the principles of engineering and physics to create a sound design, but they don't necessarily need to lay the bricks themselves. Similarly, a computer scientist needs to understand the principles of computation to design a solution, but the implementation (programming) is just one part of the process.</a:t>
            </a:r>
          </a:p>
          <a:p>
            <a:endParaRPr lang="en-US" dirty="0"/>
          </a:p>
        </p:txBody>
      </p:sp>
    </p:spTree>
    <p:extLst>
      <p:ext uri="{BB962C8B-B14F-4D97-AF65-F5344CB8AC3E}">
        <p14:creationId xmlns:p14="http://schemas.microsoft.com/office/powerpoint/2010/main" val="1437574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4145B-5FB7-4101-B25A-1CF6A4F44930}"/>
              </a:ext>
            </a:extLst>
          </p:cNvPr>
          <p:cNvSpPr>
            <a:spLocks noGrp="1"/>
          </p:cNvSpPr>
          <p:nvPr>
            <p:ph type="title"/>
          </p:nvPr>
        </p:nvSpPr>
        <p:spPr>
          <a:xfrm>
            <a:off x="874059" y="67236"/>
            <a:ext cx="10336475" cy="1356068"/>
          </a:xfrm>
        </p:spPr>
        <p:txBody>
          <a:bodyPr/>
          <a:lstStyle/>
          <a:p>
            <a:r>
              <a:rPr lang="en-US" b="1" dirty="0">
                <a:solidFill>
                  <a:schemeClr val="accent1"/>
                </a:solidFill>
              </a:rPr>
              <a:t>Why Study Computer Science?</a:t>
            </a:r>
            <a:endParaRPr lang="en-US" dirty="0">
              <a:solidFill>
                <a:schemeClr val="accent1"/>
              </a:solidFill>
            </a:endParaRPr>
          </a:p>
        </p:txBody>
      </p:sp>
      <p:sp>
        <p:nvSpPr>
          <p:cNvPr id="3" name="Content Placeholder 2">
            <a:extLst>
              <a:ext uri="{FF2B5EF4-FFF2-40B4-BE49-F238E27FC236}">
                <a16:creationId xmlns:a16="http://schemas.microsoft.com/office/drawing/2014/main" id="{EBC84FBB-6E24-4A60-9BE5-C881FE1CE55C}"/>
              </a:ext>
            </a:extLst>
          </p:cNvPr>
          <p:cNvSpPr>
            <a:spLocks noGrp="1"/>
          </p:cNvSpPr>
          <p:nvPr>
            <p:ph idx="1"/>
          </p:nvPr>
        </p:nvSpPr>
        <p:spPr>
          <a:xfrm>
            <a:off x="0" y="1551709"/>
            <a:ext cx="12067309" cy="5070764"/>
          </a:xfrm>
        </p:spPr>
        <p:txBody>
          <a:bodyPr>
            <a:normAutofit fontScale="92500" lnSpcReduction="20000"/>
          </a:bodyPr>
          <a:lstStyle/>
          <a:p>
            <a:r>
              <a:rPr lang="en-US" sz="2400" dirty="0"/>
              <a:t>In today's world, technology is ubiquitous. Understanding the principles of computer science can empower you to:</a:t>
            </a:r>
          </a:p>
          <a:p>
            <a:pPr>
              <a:buFont typeface="Arial" panose="020B0604020202020204" pitchFamily="34" charset="0"/>
              <a:buChar char="•"/>
            </a:pPr>
            <a:r>
              <a:rPr lang="en-US" sz="2400" b="1" dirty="0"/>
              <a:t>Solve complex problems:</a:t>
            </a:r>
            <a:r>
              <a:rPr lang="en-US" sz="2400" dirty="0"/>
              <a:t> Break down large problems into smaller, manageable pieces and develop logical solutions.</a:t>
            </a:r>
          </a:p>
          <a:p>
            <a:pPr>
              <a:buFont typeface="Arial" panose="020B0604020202020204" pitchFamily="34" charset="0"/>
              <a:buChar char="•"/>
            </a:pPr>
            <a:r>
              <a:rPr lang="en-US" sz="2400" b="1" dirty="0"/>
              <a:t>Innovate and create:</a:t>
            </a:r>
            <a:r>
              <a:rPr lang="en-US" sz="2400" dirty="0"/>
              <a:t> Develop new technologies and applications that can change the world.</a:t>
            </a:r>
          </a:p>
          <a:p>
            <a:pPr>
              <a:buFont typeface="Arial" panose="020B0604020202020204" pitchFamily="34" charset="0"/>
              <a:buChar char="•"/>
            </a:pPr>
            <a:r>
              <a:rPr lang="en-US" sz="2400" b="1" dirty="0"/>
              <a:t>Understand the digital world:</a:t>
            </a:r>
            <a:r>
              <a:rPr lang="en-US" sz="2400" dirty="0"/>
              <a:t> Gain a deeper understanding of the technology that shapes our lives.</a:t>
            </a:r>
          </a:p>
          <a:p>
            <a:pPr>
              <a:buFont typeface="Arial" panose="020B0604020202020204" pitchFamily="34" charset="0"/>
              <a:buChar char="•"/>
            </a:pPr>
            <a:r>
              <a:rPr lang="en-US" sz="2400" b="1" dirty="0"/>
              <a:t>Pursue a rewarding career:</a:t>
            </a:r>
            <a:r>
              <a:rPr lang="en-US" sz="2400" dirty="0"/>
              <a:t> Computer science skills are in high demand across a wide range of industries.</a:t>
            </a:r>
          </a:p>
          <a:p>
            <a:r>
              <a:rPr lang="en-US" sz="2400" dirty="0"/>
              <a:t>In the next lesson, we will explore the history of computing to understand how we got to where we are today.</a:t>
            </a:r>
          </a:p>
          <a:p>
            <a:endParaRPr lang="en-US" sz="2400" dirty="0"/>
          </a:p>
        </p:txBody>
      </p:sp>
    </p:spTree>
    <p:extLst>
      <p:ext uri="{BB962C8B-B14F-4D97-AF65-F5344CB8AC3E}">
        <p14:creationId xmlns:p14="http://schemas.microsoft.com/office/powerpoint/2010/main" val="3254875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D26F7-4633-4373-AA93-C5A8B4588126}"/>
              </a:ext>
            </a:extLst>
          </p:cNvPr>
          <p:cNvSpPr>
            <a:spLocks noGrp="1"/>
          </p:cNvSpPr>
          <p:nvPr>
            <p:ph type="title"/>
          </p:nvPr>
        </p:nvSpPr>
        <p:spPr>
          <a:xfrm>
            <a:off x="913795" y="193964"/>
            <a:ext cx="10353761" cy="1741957"/>
          </a:xfrm>
        </p:spPr>
        <p:txBody>
          <a:bodyPr>
            <a:normAutofit/>
          </a:bodyPr>
          <a:lstStyle/>
          <a:p>
            <a:r>
              <a:rPr lang="en-US" sz="4400" b="1" u="sng" dirty="0">
                <a:solidFill>
                  <a:schemeClr val="accent1"/>
                </a:solidFill>
              </a:rPr>
              <a:t>History of Computing</a:t>
            </a:r>
            <a:br>
              <a:rPr lang="en-US" sz="4400" b="1" dirty="0"/>
            </a:br>
            <a:endParaRPr lang="en-US" sz="4400" dirty="0"/>
          </a:p>
        </p:txBody>
      </p:sp>
      <p:sp>
        <p:nvSpPr>
          <p:cNvPr id="3" name="Content Placeholder 2">
            <a:extLst>
              <a:ext uri="{FF2B5EF4-FFF2-40B4-BE49-F238E27FC236}">
                <a16:creationId xmlns:a16="http://schemas.microsoft.com/office/drawing/2014/main" id="{ECCD37A8-B451-46C0-A801-8B1F049B7E45}"/>
              </a:ext>
            </a:extLst>
          </p:cNvPr>
          <p:cNvSpPr>
            <a:spLocks noGrp="1"/>
          </p:cNvSpPr>
          <p:nvPr>
            <p:ph idx="1"/>
          </p:nvPr>
        </p:nvSpPr>
        <p:spPr>
          <a:xfrm>
            <a:off x="0" y="1246909"/>
            <a:ext cx="12192000" cy="5611091"/>
          </a:xfrm>
        </p:spPr>
        <p:txBody>
          <a:bodyPr>
            <a:normAutofit/>
          </a:bodyPr>
          <a:lstStyle/>
          <a:p>
            <a:r>
              <a:rPr lang="en-US" sz="2400" dirty="0"/>
              <a:t>The history of computing is a fascinating story of human ingenuity and technological advancement. It's a journey from mechanical calculating devices to the powerful electronic computers that we use today.</a:t>
            </a:r>
          </a:p>
          <a:p>
            <a:pPr marL="0" indent="0" algn="ctr">
              <a:buNone/>
            </a:pPr>
            <a:r>
              <a:rPr lang="en-US" sz="3200" b="1" u="sng" dirty="0">
                <a:solidFill>
                  <a:schemeClr val="accent1"/>
                </a:solidFill>
              </a:rPr>
              <a:t>Early Calculating Devices</a:t>
            </a:r>
            <a:endParaRPr lang="en-US" sz="3200" u="sng" dirty="0">
              <a:solidFill>
                <a:schemeClr val="accent1"/>
              </a:solidFill>
            </a:endParaRPr>
          </a:p>
          <a:p>
            <a:r>
              <a:rPr lang="en-US" sz="2400" dirty="0"/>
              <a:t>The desire to calculate and compute is as old as humanity. Early humans used their fingers, stones, and other objects to count. One of the earliest known calculating devices is the </a:t>
            </a:r>
            <a:r>
              <a:rPr lang="en-US" sz="2400" b="1" dirty="0"/>
              <a:t>abacus</a:t>
            </a:r>
            <a:r>
              <a:rPr lang="en-US" sz="2400" dirty="0"/>
              <a:t>, which was used in ancient Mesopotamia, Egypt, and China.</a:t>
            </a:r>
          </a:p>
          <a:p>
            <a:r>
              <a:rPr lang="en-US" sz="2400" dirty="0"/>
              <a:t>In the 17th century, </a:t>
            </a:r>
            <a:r>
              <a:rPr lang="en-US" sz="2400" b="1" dirty="0"/>
              <a:t>John Napier</a:t>
            </a:r>
            <a:r>
              <a:rPr lang="en-US" sz="2400" dirty="0"/>
              <a:t> invented logarithms, which simplified multiplication and division. Soon after, the </a:t>
            </a:r>
            <a:r>
              <a:rPr lang="en-US" sz="2400" b="1" dirty="0"/>
              <a:t>slide rule</a:t>
            </a:r>
            <a:r>
              <a:rPr lang="en-US" sz="2400" dirty="0"/>
              <a:t> was invented, which was a mechanical analog computer.</a:t>
            </a:r>
          </a:p>
          <a:p>
            <a:endParaRPr lang="en-US" sz="2400" dirty="0"/>
          </a:p>
        </p:txBody>
      </p:sp>
    </p:spTree>
    <p:extLst>
      <p:ext uri="{BB962C8B-B14F-4D97-AF65-F5344CB8AC3E}">
        <p14:creationId xmlns:p14="http://schemas.microsoft.com/office/powerpoint/2010/main" val="182758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1BFCA-9B82-421E-BE59-CD0ECDB037C6}"/>
              </a:ext>
            </a:extLst>
          </p:cNvPr>
          <p:cNvSpPr>
            <a:spLocks noGrp="1"/>
          </p:cNvSpPr>
          <p:nvPr>
            <p:ph type="title"/>
          </p:nvPr>
        </p:nvSpPr>
        <p:spPr>
          <a:xfrm>
            <a:off x="913795" y="401781"/>
            <a:ext cx="10353761" cy="1025237"/>
          </a:xfrm>
        </p:spPr>
        <p:txBody>
          <a:bodyPr>
            <a:normAutofit fontScale="90000"/>
          </a:bodyPr>
          <a:lstStyle/>
          <a:p>
            <a:r>
              <a:rPr lang="en-US" sz="4900" b="1" dirty="0">
                <a:solidFill>
                  <a:schemeClr val="accent1"/>
                </a:solidFill>
              </a:rPr>
              <a:t>The Mechanical Era</a:t>
            </a:r>
            <a:br>
              <a:rPr lang="en-US" dirty="0"/>
            </a:br>
            <a:endParaRPr lang="en-US" dirty="0"/>
          </a:p>
        </p:txBody>
      </p:sp>
      <p:sp>
        <p:nvSpPr>
          <p:cNvPr id="3" name="Content Placeholder 2">
            <a:extLst>
              <a:ext uri="{FF2B5EF4-FFF2-40B4-BE49-F238E27FC236}">
                <a16:creationId xmlns:a16="http://schemas.microsoft.com/office/drawing/2014/main" id="{A6AAB609-5182-4DEB-8D74-12F0D1A9481B}"/>
              </a:ext>
            </a:extLst>
          </p:cNvPr>
          <p:cNvSpPr>
            <a:spLocks noGrp="1"/>
          </p:cNvSpPr>
          <p:nvPr>
            <p:ph idx="1"/>
          </p:nvPr>
        </p:nvSpPr>
        <p:spPr>
          <a:xfrm>
            <a:off x="0" y="1316182"/>
            <a:ext cx="12025745" cy="5444836"/>
          </a:xfrm>
        </p:spPr>
        <p:txBody>
          <a:bodyPr>
            <a:normAutofit fontScale="85000" lnSpcReduction="10000"/>
          </a:bodyPr>
          <a:lstStyle/>
          <a:p>
            <a:pPr marL="0" indent="0" algn="ctr">
              <a:buNone/>
            </a:pPr>
            <a:r>
              <a:rPr lang="en-US" sz="3000" b="1" dirty="0">
                <a:solidFill>
                  <a:schemeClr val="accent1"/>
                </a:solidFill>
              </a:rPr>
              <a:t>The 19th century saw the invention of the first mechanical computers</a:t>
            </a:r>
            <a:r>
              <a:rPr lang="en-US" sz="2800" dirty="0">
                <a:solidFill>
                  <a:schemeClr val="accent1"/>
                </a:solidFill>
              </a:rPr>
              <a:t>.</a:t>
            </a:r>
          </a:p>
          <a:p>
            <a:pPr>
              <a:buFont typeface="Arial" panose="020B0604020202020204" pitchFamily="34" charset="0"/>
              <a:buChar char="•"/>
            </a:pPr>
            <a:r>
              <a:rPr lang="en-US" sz="2800" b="1" dirty="0"/>
              <a:t>Charles Babbage</a:t>
            </a:r>
            <a:r>
              <a:rPr lang="en-US" sz="2800" dirty="0"/>
              <a:t> is considered the "father of the computer." He designed the </a:t>
            </a:r>
            <a:r>
              <a:rPr lang="en-US" sz="2800" b="1" dirty="0"/>
              <a:t>Difference Engine</a:t>
            </a:r>
            <a:r>
              <a:rPr lang="en-US" sz="2800" dirty="0"/>
              <a:t>, an automatic mechanical calculator designed to tabulate polynomial functions. He also designed the </a:t>
            </a:r>
            <a:r>
              <a:rPr lang="en-US" sz="2800" b="1" dirty="0"/>
              <a:t>Analytical Engine</a:t>
            </a:r>
            <a:r>
              <a:rPr lang="en-US" sz="2800" dirty="0"/>
              <a:t>, which was a much more ambitious machine that had all the essential components of a modern computer, including an arithmetic logic unit (ALU), control flow, and integrated memory. Unfortunately, due to a lack of funding, Babbage was never able to complete the construction of his machines.</a:t>
            </a:r>
          </a:p>
          <a:p>
            <a:pPr>
              <a:buFont typeface="Arial" panose="020B0604020202020204" pitchFamily="34" charset="0"/>
              <a:buChar char="•"/>
            </a:pPr>
            <a:r>
              <a:rPr lang="en-US" sz="2800" b="1" dirty="0"/>
              <a:t>Ada Lovelace</a:t>
            </a:r>
            <a:r>
              <a:rPr lang="en-US" sz="2800" dirty="0"/>
              <a:t>, a mathematician and writer, worked with Babbage on the Analytical Engine. She is often regarded as the first computer programmer. She wrote the world's first algorithm that was intended to be processed by a machine.</a:t>
            </a:r>
          </a:p>
          <a:p>
            <a:pPr marL="0" indent="0">
              <a:buNone/>
            </a:pPr>
            <a:endParaRPr lang="en-US" sz="2800" dirty="0"/>
          </a:p>
        </p:txBody>
      </p:sp>
    </p:spTree>
    <p:extLst>
      <p:ext uri="{BB962C8B-B14F-4D97-AF65-F5344CB8AC3E}">
        <p14:creationId xmlns:p14="http://schemas.microsoft.com/office/powerpoint/2010/main" val="185299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51397-B198-4C3C-A510-1CE4B2CEA9D6}"/>
              </a:ext>
            </a:extLst>
          </p:cNvPr>
          <p:cNvSpPr>
            <a:spLocks noGrp="1"/>
          </p:cNvSpPr>
          <p:nvPr>
            <p:ph type="title"/>
          </p:nvPr>
        </p:nvSpPr>
        <p:spPr>
          <a:xfrm>
            <a:off x="886085" y="193964"/>
            <a:ext cx="10353761" cy="872836"/>
          </a:xfrm>
        </p:spPr>
        <p:txBody>
          <a:bodyPr>
            <a:normAutofit/>
          </a:bodyPr>
          <a:lstStyle/>
          <a:p>
            <a:r>
              <a:rPr lang="en-US" sz="4000" b="1" dirty="0">
                <a:solidFill>
                  <a:schemeClr val="accent1"/>
                </a:solidFill>
              </a:rPr>
              <a:t>The Electronic Era</a:t>
            </a:r>
            <a:endParaRPr lang="en-US" sz="4000" dirty="0">
              <a:solidFill>
                <a:schemeClr val="accent1"/>
              </a:solidFill>
            </a:endParaRPr>
          </a:p>
        </p:txBody>
      </p:sp>
      <p:sp>
        <p:nvSpPr>
          <p:cNvPr id="3" name="Content Placeholder 2">
            <a:extLst>
              <a:ext uri="{FF2B5EF4-FFF2-40B4-BE49-F238E27FC236}">
                <a16:creationId xmlns:a16="http://schemas.microsoft.com/office/drawing/2014/main" id="{BBED0C7A-B3D9-45D0-8306-910F543CC99E}"/>
              </a:ext>
            </a:extLst>
          </p:cNvPr>
          <p:cNvSpPr>
            <a:spLocks noGrp="1"/>
          </p:cNvSpPr>
          <p:nvPr>
            <p:ph idx="1"/>
          </p:nvPr>
        </p:nvSpPr>
        <p:spPr>
          <a:xfrm>
            <a:off x="124690" y="955964"/>
            <a:ext cx="12067309" cy="5708072"/>
          </a:xfrm>
        </p:spPr>
        <p:txBody>
          <a:bodyPr>
            <a:normAutofit fontScale="92500" lnSpcReduction="10000"/>
          </a:bodyPr>
          <a:lstStyle/>
          <a:p>
            <a:pPr marL="0" indent="0" algn="ctr">
              <a:buNone/>
            </a:pPr>
            <a:r>
              <a:rPr lang="en-US" sz="3000" dirty="0">
                <a:solidFill>
                  <a:schemeClr val="accent1"/>
                </a:solidFill>
              </a:rPr>
              <a:t>The 20th century ushered in the age of electronic computers.</a:t>
            </a:r>
          </a:p>
          <a:p>
            <a:pPr>
              <a:buFont typeface="Arial" panose="020B0604020202020204" pitchFamily="34" charset="0"/>
              <a:buChar char="•"/>
            </a:pPr>
            <a:r>
              <a:rPr lang="en-US" b="1" dirty="0"/>
              <a:t>Alan Turing</a:t>
            </a:r>
            <a:r>
              <a:rPr lang="en-US" dirty="0"/>
              <a:t> was a brilliant mathematician and logician who is considered the father of theoretical computer science and artificial intelligence. During World War II, Turing was instrumental in breaking the German Enigma code. He also developed the concept of the </a:t>
            </a:r>
            <a:r>
              <a:rPr lang="en-US" b="1" dirty="0"/>
              <a:t>Turing machine</a:t>
            </a:r>
            <a:r>
              <a:rPr lang="en-US" dirty="0"/>
              <a:t>, which is a mathematical model of computation that defines an abstract machine that manipulates symbols on a strip of tape according to a table of rules.</a:t>
            </a:r>
          </a:p>
          <a:p>
            <a:pPr>
              <a:buFont typeface="Arial" panose="020B0604020202020204" pitchFamily="34" charset="0"/>
              <a:buChar char="•"/>
            </a:pPr>
            <a:r>
              <a:rPr lang="en-US" dirty="0"/>
              <a:t>The </a:t>
            </a:r>
            <a:r>
              <a:rPr lang="en-US" b="1" dirty="0"/>
              <a:t>Atanasoff-Berry Computer (ABC)</a:t>
            </a:r>
            <a:r>
              <a:rPr lang="en-US" dirty="0"/>
              <a:t>, built in the late 1930s and early 1940s by John Vincent Atanasoff and Clifford Berry, was the first electronic digital computing device.</a:t>
            </a:r>
          </a:p>
          <a:p>
            <a:pPr>
              <a:buFont typeface="Arial" panose="020B0604020202020204" pitchFamily="34" charset="0"/>
              <a:buChar char="•"/>
            </a:pPr>
            <a:r>
              <a:rPr lang="en-US" b="1" dirty="0"/>
              <a:t>ENIAC (Electronic Numerical Integrator and Computer)</a:t>
            </a:r>
            <a:r>
              <a:rPr lang="en-US" dirty="0"/>
              <a:t> was the first general-purpose electronic computer. It was built during World War II and was used to calculate artillery firing tables.</a:t>
            </a:r>
          </a:p>
          <a:p>
            <a:pPr>
              <a:buFont typeface="Arial" panose="020B0604020202020204" pitchFamily="34" charset="0"/>
              <a:buChar char="•"/>
            </a:pPr>
            <a:r>
              <a:rPr lang="en-US" dirty="0"/>
              <a:t>The invention of the </a:t>
            </a:r>
            <a:r>
              <a:rPr lang="en-US" b="1" dirty="0"/>
              <a:t>transistor</a:t>
            </a:r>
            <a:r>
              <a:rPr lang="en-US" dirty="0"/>
              <a:t> in 1947 was a major breakthrough that led to smaller, faster, and more reliable computers.</a:t>
            </a:r>
          </a:p>
          <a:p>
            <a:pPr>
              <a:buFont typeface="Arial" panose="020B0604020202020204" pitchFamily="34" charset="0"/>
              <a:buChar char="•"/>
            </a:pPr>
            <a:r>
              <a:rPr lang="en-US" dirty="0"/>
              <a:t>The </a:t>
            </a:r>
            <a:r>
              <a:rPr lang="en-US" b="1" dirty="0"/>
              <a:t>integrated circuit</a:t>
            </a:r>
            <a:r>
              <a:rPr lang="en-US" dirty="0"/>
              <a:t> (or microchip), invented in the 1950s, allowed for the miniaturization of electronic components, which paved the way for personal computers.</a:t>
            </a:r>
          </a:p>
          <a:p>
            <a:endParaRPr lang="en-US" dirty="0"/>
          </a:p>
        </p:txBody>
      </p:sp>
    </p:spTree>
    <p:extLst>
      <p:ext uri="{BB962C8B-B14F-4D97-AF65-F5344CB8AC3E}">
        <p14:creationId xmlns:p14="http://schemas.microsoft.com/office/powerpoint/2010/main" val="3109268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C0D38-440A-4C71-AA81-B4FF23609494}"/>
              </a:ext>
            </a:extLst>
          </p:cNvPr>
          <p:cNvSpPr>
            <a:spLocks noGrp="1"/>
          </p:cNvSpPr>
          <p:nvPr>
            <p:ph type="title"/>
          </p:nvPr>
        </p:nvSpPr>
        <p:spPr/>
        <p:txBody>
          <a:bodyPr>
            <a:normAutofit/>
          </a:bodyPr>
          <a:lstStyle/>
          <a:p>
            <a:r>
              <a:rPr lang="en-US" sz="4400" b="1" dirty="0">
                <a:solidFill>
                  <a:schemeClr val="accent1"/>
                </a:solidFill>
              </a:rPr>
              <a:t>The Personal Computer Era</a:t>
            </a:r>
            <a:endParaRPr lang="en-US" sz="4000" dirty="0">
              <a:solidFill>
                <a:schemeClr val="accent1"/>
              </a:solidFill>
            </a:endParaRPr>
          </a:p>
        </p:txBody>
      </p:sp>
      <p:sp>
        <p:nvSpPr>
          <p:cNvPr id="3" name="Content Placeholder 2">
            <a:extLst>
              <a:ext uri="{FF2B5EF4-FFF2-40B4-BE49-F238E27FC236}">
                <a16:creationId xmlns:a16="http://schemas.microsoft.com/office/drawing/2014/main" id="{D074D15F-4C61-46DB-AED1-A7309E2F4493}"/>
              </a:ext>
            </a:extLst>
          </p:cNvPr>
          <p:cNvSpPr>
            <a:spLocks noGrp="1"/>
          </p:cNvSpPr>
          <p:nvPr>
            <p:ph idx="1"/>
          </p:nvPr>
        </p:nvSpPr>
        <p:spPr/>
        <p:txBody>
          <a:bodyPr/>
          <a:lstStyle/>
          <a:p>
            <a:r>
              <a:rPr lang="en-US" sz="2800" dirty="0"/>
              <a:t>The 1970s and 1980s saw the rise of the personal computer (PC). Companies like Apple, IBM, and Microsoft played a pivotal role in making computers accessible to the general public.</a:t>
            </a:r>
          </a:p>
          <a:p>
            <a:endParaRPr lang="en-US" dirty="0"/>
          </a:p>
        </p:txBody>
      </p:sp>
    </p:spTree>
    <p:extLst>
      <p:ext uri="{BB962C8B-B14F-4D97-AF65-F5344CB8AC3E}">
        <p14:creationId xmlns:p14="http://schemas.microsoft.com/office/powerpoint/2010/main" val="1688643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C4EC-4D29-4C82-ABB6-0025DCED220B}"/>
              </a:ext>
            </a:extLst>
          </p:cNvPr>
          <p:cNvSpPr>
            <a:spLocks noGrp="1"/>
          </p:cNvSpPr>
          <p:nvPr>
            <p:ph type="title"/>
          </p:nvPr>
        </p:nvSpPr>
        <p:spPr/>
        <p:txBody>
          <a:bodyPr>
            <a:normAutofit/>
          </a:bodyPr>
          <a:lstStyle/>
          <a:p>
            <a:r>
              <a:rPr lang="en-US" sz="4800" b="1" dirty="0">
                <a:solidFill>
                  <a:schemeClr val="accent1"/>
                </a:solidFill>
              </a:rPr>
              <a:t>The Internet Era</a:t>
            </a:r>
            <a:endParaRPr lang="en-US" sz="4800" dirty="0">
              <a:solidFill>
                <a:schemeClr val="accent1"/>
              </a:solidFill>
            </a:endParaRPr>
          </a:p>
        </p:txBody>
      </p:sp>
      <p:sp>
        <p:nvSpPr>
          <p:cNvPr id="3" name="Content Placeholder 2">
            <a:extLst>
              <a:ext uri="{FF2B5EF4-FFF2-40B4-BE49-F238E27FC236}">
                <a16:creationId xmlns:a16="http://schemas.microsoft.com/office/drawing/2014/main" id="{DBE9C75B-A104-4FA0-9FA3-9708C460AB63}"/>
              </a:ext>
            </a:extLst>
          </p:cNvPr>
          <p:cNvSpPr>
            <a:spLocks noGrp="1"/>
          </p:cNvSpPr>
          <p:nvPr>
            <p:ph idx="1"/>
          </p:nvPr>
        </p:nvSpPr>
        <p:spPr/>
        <p:txBody>
          <a:bodyPr/>
          <a:lstStyle/>
          <a:p>
            <a:r>
              <a:rPr lang="en-US" sz="2800" dirty="0"/>
              <a:t>The development of the </a:t>
            </a:r>
            <a:r>
              <a:rPr lang="en-US" sz="2800" b="1" dirty="0"/>
              <a:t>ARPANET</a:t>
            </a:r>
            <a:r>
              <a:rPr lang="en-US" sz="2800" dirty="0"/>
              <a:t> in the 1960s, which was the precursor to the internet, and the invention of the </a:t>
            </a:r>
            <a:r>
              <a:rPr lang="en-US" sz="2800" b="1" dirty="0"/>
              <a:t>World Wide Web</a:t>
            </a:r>
            <a:r>
              <a:rPr lang="en-US" sz="2800" dirty="0"/>
              <a:t> by Tim Berners-Lee in 1989, revolutionized the way we communicate, work, and live.</a:t>
            </a:r>
          </a:p>
          <a:p>
            <a:endParaRPr lang="en-US" dirty="0"/>
          </a:p>
        </p:txBody>
      </p:sp>
    </p:spTree>
    <p:extLst>
      <p:ext uri="{BB962C8B-B14F-4D97-AF65-F5344CB8AC3E}">
        <p14:creationId xmlns:p14="http://schemas.microsoft.com/office/powerpoint/2010/main" val="1199500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64008-5122-45B6-B712-6AEBCAB311AC}"/>
              </a:ext>
            </a:extLst>
          </p:cNvPr>
          <p:cNvSpPr>
            <a:spLocks noGrp="1"/>
          </p:cNvSpPr>
          <p:nvPr>
            <p:ph type="title"/>
          </p:nvPr>
        </p:nvSpPr>
        <p:spPr/>
        <p:txBody>
          <a:bodyPr>
            <a:normAutofit/>
          </a:bodyPr>
          <a:lstStyle/>
          <a:p>
            <a:r>
              <a:rPr lang="en-US" sz="4000" b="1" dirty="0">
                <a:solidFill>
                  <a:schemeClr val="accent1"/>
                </a:solidFill>
              </a:rPr>
              <a:t>The Future of Computing</a:t>
            </a:r>
            <a:endParaRPr lang="en-US" sz="4000" dirty="0">
              <a:solidFill>
                <a:schemeClr val="accent1"/>
              </a:solidFill>
            </a:endParaRPr>
          </a:p>
        </p:txBody>
      </p:sp>
      <p:sp>
        <p:nvSpPr>
          <p:cNvPr id="3" name="Content Placeholder 2">
            <a:extLst>
              <a:ext uri="{FF2B5EF4-FFF2-40B4-BE49-F238E27FC236}">
                <a16:creationId xmlns:a16="http://schemas.microsoft.com/office/drawing/2014/main" id="{6B238330-3E2C-4DBC-A86D-B0AFC5490B13}"/>
              </a:ext>
            </a:extLst>
          </p:cNvPr>
          <p:cNvSpPr>
            <a:spLocks noGrp="1"/>
          </p:cNvSpPr>
          <p:nvPr>
            <p:ph idx="1"/>
          </p:nvPr>
        </p:nvSpPr>
        <p:spPr>
          <a:xfrm>
            <a:off x="249382" y="1745673"/>
            <a:ext cx="11762509" cy="5015345"/>
          </a:xfrm>
        </p:spPr>
        <p:txBody>
          <a:bodyPr>
            <a:normAutofit/>
          </a:bodyPr>
          <a:lstStyle/>
          <a:p>
            <a:r>
              <a:rPr lang="en-US" sz="2800" dirty="0"/>
              <a:t>The field of computer science is constantly evolving. Today, we are seeing exciting advancements in areas like artificial intelligence, machine learning, quantum computing, and blockchain technology. The future of computing promises to be even more exciting than the past.</a:t>
            </a:r>
          </a:p>
          <a:p>
            <a:r>
              <a:rPr lang="en-US" sz="2800" dirty="0"/>
              <a:t>In the next lesson, we will explore the concept of an algorithm, which is a fundamental concept in computer science.</a:t>
            </a:r>
          </a:p>
          <a:p>
            <a:pPr marL="0" indent="0">
              <a:buNone/>
            </a:pPr>
            <a:endParaRPr lang="en-US" dirty="0"/>
          </a:p>
        </p:txBody>
      </p:sp>
    </p:spTree>
    <p:extLst>
      <p:ext uri="{BB962C8B-B14F-4D97-AF65-F5344CB8AC3E}">
        <p14:creationId xmlns:p14="http://schemas.microsoft.com/office/powerpoint/2010/main" val="32041857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138</TotalTime>
  <Words>998</Words>
  <Application>Microsoft Office PowerPoint</Application>
  <PresentationFormat>Widescreen</PresentationFormat>
  <Paragraphs>44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Bookman Old Style</vt:lpstr>
      <vt:lpstr>Rockwell</vt:lpstr>
      <vt:lpstr>Damask</vt:lpstr>
      <vt:lpstr>computer science fundamentals</vt:lpstr>
      <vt:lpstr>Sub topics </vt:lpstr>
      <vt:lpstr>Introduction to Computer Science </vt:lpstr>
      <vt:lpstr>Misconceptions about Computer Science</vt:lpstr>
      <vt:lpstr>Why Study Computer Science?</vt:lpstr>
      <vt:lpstr>History of Computing </vt:lpstr>
      <vt:lpstr>The Mechanical Era </vt:lpstr>
      <vt:lpstr>The Electronic Era</vt:lpstr>
      <vt:lpstr>The Personal Computer Era</vt:lpstr>
      <vt:lpstr>The Internet Era</vt:lpstr>
      <vt:lpstr>The Future of Computing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science</dc:title>
  <dc:creator>famodun Gbenga</dc:creator>
  <cp:lastModifiedBy>famodun Gbenga</cp:lastModifiedBy>
  <cp:revision>11</cp:revision>
  <dcterms:created xsi:type="dcterms:W3CDTF">2026-04-27T10:40:36Z</dcterms:created>
  <dcterms:modified xsi:type="dcterms:W3CDTF">2026-04-27T12:58:58Z</dcterms:modified>
</cp:coreProperties>
</file>